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6F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06240"/>
            <a:ext cx="9144000" cy="937259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64592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メイリオ"/>
              </a:rPr>
              <a:t>全体工程表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8308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BDD7EE"/>
                </a:solidFill>
                <a:latin typeface="メイリオ"/>
              </a:rPr>
              <a:t>使 い 方 説 明 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メイリオ"/>
              </a:rPr>
              <a:t>社内全体の工程を一元管理するガントチャートシステムです。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8892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  <a:latin typeface="メイリオ"/>
              </a:rPr>
              <a:t>各部署のタスクを工事番号・担当者・機械ごとに可視化し、進捗管理に活用します。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メイリオ"/>
              </a:rPr>
              <a:t>  ● 外観検査    ▲ 客先立会    ◆ 出荷確認会議    ★ 工場出荷    🚚 部品送り開始日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36576"/>
            <a:ext cx="8686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メイリオ"/>
              </a:rPr>
              <a:t>01  画面構成の概要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9651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メイリオ"/>
              </a:rPr>
              <a:t>全体工程表 使い方ガイド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548640"/>
            <a:ext cx="8869680" cy="434340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548640"/>
            <a:ext cx="1325880" cy="4343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59436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工事一覧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841248"/>
            <a:ext cx="1188720" cy="2926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00" b="0">
                <a:solidFill>
                  <a:srgbClr val="ECF0F1"/>
                </a:solidFill>
                <a:latin typeface="メイリオ"/>
              </a:rPr>
              <a:t>全・2000番台・その他
[工事番号]
顧客名/工事名
[工事番号]
顧客名/工事名
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4480560"/>
            <a:ext cx="1005840" cy="274320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" y="44805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新規受注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548640"/>
            <a:ext cx="7452360" cy="502920"/>
          </a:xfrm>
          <a:prstGeom prst="rect">
            <a:avLst/>
          </a:prstGeom>
          <a:solidFill>
            <a:srgbClr val="F8F9FA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576072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メイリオ"/>
              </a:rPr>
              <a:t>工程別 / 機械別  ｜  日単位 / 週単位  ｜  今日へ移動  ｜  表示リセット   ●外観検査 ▲客先立会 ◆出荷確認会議 ★工場出荷 🚚部品送り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1069848"/>
            <a:ext cx="7452360" cy="347472"/>
          </a:xfrm>
          <a:prstGeom prst="rect">
            <a:avLst/>
          </a:prstGeom>
          <a:solidFill>
            <a:srgbClr val="F0F4F8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1078992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メイリオ"/>
              </a:rPr>
              <a:t>機械検索  ｜  担当検索  ⚠担当未定  ｜  部署別フィルタ  ｜  部署別リソース  ｜  組立場所  ｜  出張予定  ｜  完了済み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08760" y="1435608"/>
            <a:ext cx="7452360" cy="3310128"/>
          </a:xfrm>
          <a:prstGeom prst="rect">
            <a:avLst/>
          </a:prstGeom>
          <a:solidFill>
            <a:srgbClr val="FFFFFF"/>
          </a:solidFill>
          <a:ln w="381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08760" y="1435608"/>
            <a:ext cx="3017520" cy="24688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7048" y="1453896"/>
            <a:ext cx="29809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555555"/>
                </a:solidFill>
                <a:latin typeface="メイリオ"/>
              </a:rPr>
              <a:t>🔍 | 工番 | ✓ | タスク名 | 機械 | ユニ | 担当 | 場所 | 開始日 | 終了日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44568" y="1435608"/>
            <a:ext cx="4416552" cy="24688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453896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メイリオ"/>
              </a:rPr>
              <a:t>2024/11  ─────  2025  ─────  2026  ─────  2027/11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3218688"/>
            <a:ext cx="274320" cy="173736"/>
          </a:xfrm>
          <a:prstGeom prst="rect">
            <a:avLst/>
          </a:prstGeom>
          <a:solidFill>
            <a:srgbClr val="428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7048" y="3214115"/>
            <a:ext cx="2980944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/>
            <a:r>
              <a:rPr sz="750" b="0">
                <a:solidFill>
                  <a:srgbClr val="1C1C1C"/>
                </a:solidFill>
                <a:latin typeface="メイリオ"/>
              </a:rPr>
              <a:t>設計部タスク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3566160"/>
            <a:ext cx="457200" cy="17373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27048" y="3561588"/>
            <a:ext cx="2980944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/>
            <a:r>
              <a:rPr sz="750" b="0">
                <a:solidFill>
                  <a:srgbClr val="1C1C1C"/>
                </a:solidFill>
                <a:latin typeface="メイリオ"/>
              </a:rPr>
              <a:t>製管部タスク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3913632"/>
            <a:ext cx="320040" cy="17373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27048" y="3909060"/>
            <a:ext cx="2980944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/>
            <a:r>
              <a:rPr sz="750" b="0">
                <a:solidFill>
                  <a:srgbClr val="1C1C1C"/>
                </a:solidFill>
                <a:latin typeface="メイリオ"/>
              </a:rPr>
              <a:t>組立部タスク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32120" y="4261104"/>
            <a:ext cx="256032" cy="173736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7048" y="4256531"/>
            <a:ext cx="2980944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/>
            <a:r>
              <a:rPr sz="750" b="0">
                <a:solidFill>
                  <a:srgbClr val="1C1C1C"/>
                </a:solidFill>
                <a:latin typeface="メイリオ"/>
              </a:rPr>
              <a:t>電装部タスク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4608576"/>
            <a:ext cx="365760" cy="17373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27048" y="4604004"/>
            <a:ext cx="2980944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/>
            <a:r>
              <a:rPr sz="750" b="0">
                <a:solidFill>
                  <a:srgbClr val="1C1C1C"/>
                </a:solidFill>
                <a:latin typeface="メイリオ"/>
              </a:rPr>
              <a:t>操業部タスク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560320"/>
            <a:ext cx="201168" cy="201168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56032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8760" y="530352"/>
            <a:ext cx="201168" cy="201168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8760" y="530352"/>
            <a:ext cx="2011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08760" y="1051560"/>
            <a:ext cx="201168" cy="201168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08760" y="105156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08760" y="1417320"/>
            <a:ext cx="201168" cy="201168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08760" y="141732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" y="466344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メイリオ"/>
              </a:rPr>
              <a:t>①左サイドバー  ②ヘッダー  ③ツールバー  ④ガントチャート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36576"/>
            <a:ext cx="8686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メイリオ"/>
              </a:rPr>
              <a:t>02  ログインと編集権限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9651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メイリオ"/>
              </a:rPr>
              <a:t>全体工程表 使い方ガイド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42976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566928"/>
            <a:ext cx="4297680" cy="274320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56692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</a:rPr>
              <a:t>ログイン方法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841247"/>
            <a:ext cx="4297680" cy="1673351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① 画面右上の「ログイン」ボタンをクリック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② メールアドレスとパスワードを入力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③ ログインボタンを押す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④ ログイン後は「ログアウト」ボタンが表示される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/>
            </a:r>
          </a:p>
          <a:p>
            <a:pPr algn="l"/>
            <a:r>
              <a:rPr sz="950" b="0">
                <a:solidFill>
                  <a:srgbClr val="555555"/>
                </a:solidFill>
                <a:latin typeface="メイリオ"/>
              </a:rPr>
              <a:t>※ パスワードリセットは「パスワード変更」から行えます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566928"/>
            <a:ext cx="42976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66928"/>
            <a:ext cx="4297680" cy="2743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56692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</a:rPr>
              <a:t>閲覧と編集の違い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841247"/>
            <a:ext cx="4297680" cy="1673351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276FB4"/>
                </a:solidFill>
                <a:latin typeface="メイリオ"/>
              </a:rPr>
              <a:t>【閲覧のみ（ログイン不要）】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・ガントチャートの閲覧・スクロール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・フィルタリング・表示切替</a:t>
            </a:r>
          </a:p>
          <a:p>
            <a:pPr algn="l"/>
            <a:r>
              <a:rPr sz="950" b="1">
                <a:solidFill>
                  <a:srgbClr val="276FB4"/>
                </a:solidFill>
                <a:latin typeface="メイリオ"/>
              </a:rPr>
              <a:t>【編集者（ログイン必要）】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・タスクの追加・編集・削除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・新規受注登録・完了済み登録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2651760"/>
            <a:ext cx="8778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2651760"/>
            <a:ext cx="8778240" cy="274320"/>
          </a:xfrm>
          <a:prstGeom prst="rect">
            <a:avLst/>
          </a:prstGeom>
          <a:solidFill>
            <a:srgbClr val="4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2651760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</a:rPr>
              <a:t>編集者アカウント（社内限定）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2926079"/>
            <a:ext cx="8778240" cy="11247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C1C1C"/>
                </a:solidFill>
                <a:latin typeface="メイリオ"/>
              </a:rPr>
              <a:t>以下のアカウントでログインすると編集が可能になります：</a:t>
            </a:r>
          </a:p>
          <a:p>
            <a:pPr algn="l"/>
            <a:r>
              <a:rPr sz="1000" b="0">
                <a:solidFill>
                  <a:srgbClr val="276FB4"/>
                </a:solidFill>
                <a:latin typeface="メイリオ"/>
              </a:rPr>
              <a:t>　・m2-kusakabe　・e-kurosaki　・s-morimura</a:t>
            </a:r>
          </a:p>
          <a:p>
            <a:pPr algn="l"/>
            <a:r>
              <a:rPr sz="1000" b="0">
                <a:solidFill>
                  <a:srgbClr val="1C1C1C"/>
                </a:solidFill>
                <a:latin typeface="メイリオ"/>
              </a:rPr>
              <a:t/>
            </a:r>
          </a:p>
          <a:p>
            <a:pPr algn="l"/>
            <a:r>
              <a:rPr sz="1000" b="0">
                <a:solidFill>
                  <a:srgbClr val="C0392B"/>
                </a:solidFill>
                <a:latin typeface="メイリオ"/>
              </a:rPr>
              <a:t>※ 一般閲覧者はログイン不要です。フィルタ・表示切替は誰でも利用できます。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36576"/>
            <a:ext cx="8686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メイリオ"/>
              </a:rPr>
              <a:t>03  左サイドバー（工事一覧）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9651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メイリオ"/>
              </a:rPr>
              <a:t>全体工程表 使い方ガイド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566928"/>
            <a:ext cx="1691640" cy="43159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566928"/>
            <a:ext cx="1691640" cy="320040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59436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工 事 一 覧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932688"/>
            <a:ext cx="502920" cy="201168"/>
          </a:xfrm>
          <a:prstGeom prst="rect">
            <a:avLst/>
          </a:prstGeom>
          <a:solidFill>
            <a:srgbClr val="3D5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" y="93268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メイリオ"/>
              </a:rPr>
              <a:t>全て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" y="932688"/>
            <a:ext cx="640080" cy="2011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93268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EB5C8"/>
                </a:solidFill>
                <a:latin typeface="メイリオ"/>
              </a:rPr>
              <a:t>2000番台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62456" y="932688"/>
            <a:ext cx="429768" cy="2011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62456" y="932688"/>
            <a:ext cx="429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EB5C8"/>
                </a:solidFill>
                <a:latin typeface="メイリオ"/>
              </a:rPr>
              <a:t>その他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1170432"/>
            <a:ext cx="1600200" cy="448056"/>
          </a:xfrm>
          <a:prstGeom prst="rect">
            <a:avLst/>
          </a:prstGeom>
          <a:solidFill>
            <a:srgbClr val="3D5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" y="1188720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2501 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1389888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BBCEDE"/>
                </a:solidFill>
                <a:latin typeface="メイリオ"/>
              </a:rPr>
              <a:t>A社 / 真空装置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1645920"/>
            <a:ext cx="1600200" cy="44805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1664208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2502 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1865376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BBCEDE"/>
                </a:solidFill>
                <a:latin typeface="メイリオ"/>
              </a:rPr>
              <a:t>B社 / 成膜装置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2121408"/>
            <a:ext cx="1600200" cy="44805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" y="2139696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2503 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2340864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BBCEDE"/>
                </a:solidFill>
                <a:latin typeface="メイリオ"/>
              </a:rPr>
              <a:t>C社 / 搬送装置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2596896"/>
            <a:ext cx="1600200" cy="44805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" y="2615184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1234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2816352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BBCEDE"/>
                </a:solidFill>
                <a:latin typeface="メイリオ"/>
              </a:rPr>
              <a:t>D社 / 特注品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3072384"/>
            <a:ext cx="1600200" cy="44805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" y="3090672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1235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" y="3291840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BBCEDE"/>
                </a:solidFill>
                <a:latin typeface="メイリオ"/>
              </a:rPr>
              <a:t>E社 / 改造品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" y="3547872"/>
            <a:ext cx="1371600" cy="274320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" y="35478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+ 新規受注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65960" y="566928"/>
            <a:ext cx="338328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65960" y="566928"/>
            <a:ext cx="3383280" cy="274320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65960" y="56692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</a:rPr>
              <a:t>工事一覧の使い方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841247"/>
            <a:ext cx="3383280" cy="11521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・工事番号をクリックするとその工事のみ表示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・もう一度クリックすると全工程に戻る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・グループボタンで 2000番台 / その他 に絞込み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・● は工事が展開中（アクティブ）を示す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566928"/>
            <a:ext cx="34747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66928"/>
            <a:ext cx="3474720" cy="2743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0" y="56692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</a:rPr>
              <a:t>工事番号グループの違い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841247"/>
            <a:ext cx="3474720" cy="11521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276FB4"/>
                </a:solidFill>
                <a:latin typeface="メイリオ"/>
              </a:rPr>
              <a:t>【2000番台】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  標準機・量産機などのプロジェクト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  → バーに機械名・ユニット名を表示</a:t>
            </a:r>
          </a:p>
          <a:p>
            <a:pPr algn="l"/>
            <a:r>
              <a:rPr sz="950" b="1">
                <a:solidFill>
                  <a:srgbClr val="276FB4"/>
                </a:solidFill>
                <a:latin typeface="メイリオ"/>
              </a:rPr>
              <a:t>【その他（1000番台 等）】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  特注・改造などのプロジェクト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65960" y="2130552"/>
            <a:ext cx="699516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65960" y="2130552"/>
            <a:ext cx="699516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65960" y="2130552"/>
            <a:ext cx="6995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</a:rPr>
              <a:t>新規受注登録の手順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2404872"/>
            <a:ext cx="6995160" cy="1554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① 左サイドバーの「新規受注」ボタンをクリック（要ログイン）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② 工事番号・客先名・工事名・受注日・出荷日を入力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③「追加」ボタンを押すと、工程テンプレートが自動挿入される</a:t>
            </a:r>
          </a:p>
          <a:p>
            <a:pPr algn="l"/>
            <a:r>
              <a:rPr sz="950" b="0">
                <a:solidFill>
                  <a:srgbClr val="555555"/>
                </a:solidFill>
                <a:latin typeface="メイリオ"/>
              </a:rPr>
              <a:t>   ※ テンプレートには 受注説明会・計画設計・機械組立・外観検査・工場出荷 等が含まれます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④ 追加後に各タスクを編集・調整してください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36576"/>
            <a:ext cx="8686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メイリオ"/>
              </a:rPr>
              <a:t>04  表示モードとフィルタ機能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9651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メイリオ"/>
              </a:rPr>
              <a:t>全体工程表 使い方ガイド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42976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566928"/>
            <a:ext cx="4297680" cy="274320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56692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</a:rPr>
              <a:t>表示モード（工程別 / 機械別）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841247"/>
            <a:ext cx="4297680" cy="1216151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276FB4"/>
                </a:solidFill>
                <a:latin typeface="メイリオ"/>
              </a:rPr>
              <a:t>【工程別】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  各工程タスクを部署ごとに整理して表示</a:t>
            </a:r>
          </a:p>
          <a:p>
            <a:pPr algn="l"/>
            <a:r>
              <a:rPr sz="950" b="1">
                <a:solidFill>
                  <a:srgbClr val="276FB4"/>
                </a:solidFill>
                <a:latin typeface="メイリオ"/>
              </a:rPr>
              <a:t>【機械別】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  同一機械のタスクをまとめて機械ごとに表示</a:t>
            </a:r>
          </a:p>
          <a:p>
            <a:pPr algn="l"/>
            <a:r>
              <a:rPr sz="950" b="0">
                <a:solidFill>
                  <a:srgbClr val="555555"/>
                </a:solidFill>
                <a:latin typeface="メイリオ"/>
              </a:rPr>
              <a:t>→ ヘッダーの「工程別」「機械別」ボタンで切替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566928"/>
            <a:ext cx="42976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66928"/>
            <a:ext cx="4297680" cy="2743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56692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</a:rPr>
              <a:t>ズームと移動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841247"/>
            <a:ext cx="4297680" cy="1216151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【日単位】日ごとの目盛りで表示（土日は背景色変化）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【週単位】週ごとの目盛りで表示（広域確認に便利）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【今日へ移動】現在日付の位置にスクロール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【表示リセット】全フィルタをリセットして全工程を表示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2176272"/>
            <a:ext cx="212140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2176272"/>
            <a:ext cx="2121408" cy="274320"/>
          </a:xfrm>
          <a:prstGeom prst="rect">
            <a:avLst/>
          </a:prstGeom>
          <a:solidFill>
            <a:srgbClr val="428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2176272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機械検索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2450591"/>
            <a:ext cx="2121408" cy="51206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1C1C1C"/>
                </a:solidFill>
                <a:latin typeface="メイリオ"/>
              </a:rPr>
              <a:t>機械名を入力するとその機械に関係するタスクのみ表示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176272"/>
            <a:ext cx="212140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77440" y="2176272"/>
            <a:ext cx="2121408" cy="2743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2176272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担当検索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450591"/>
            <a:ext cx="2121408" cy="51206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1C1C1C"/>
                </a:solidFill>
                <a:latin typeface="メイリオ"/>
              </a:rPr>
              <a:t>担当者名を入力するとその担当者のタスクのみ表示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176272"/>
            <a:ext cx="212140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2176272"/>
            <a:ext cx="2121408" cy="2743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176272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⚠担当未定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450591"/>
            <a:ext cx="2121408" cy="51206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1C1C1C"/>
                </a:solidFill>
                <a:latin typeface="メイリオ"/>
              </a:rPr>
              <a:t>担当者が未設定のタスクのみ表示。配置漏れの確認に便利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59" y="2176272"/>
            <a:ext cx="212140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66559" y="2176272"/>
            <a:ext cx="2121408" cy="2743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59" y="2176272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部署別フィルタ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59" y="2450591"/>
            <a:ext cx="2121408" cy="51206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1C1C1C"/>
                </a:solidFill>
                <a:latin typeface="メイリオ"/>
              </a:rPr>
              <a:t>営業/設計/製管/組立/電装/品証/操業 でタスクを絞込み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3054096"/>
            <a:ext cx="212140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" y="3054096"/>
            <a:ext cx="2121408" cy="274320"/>
          </a:xfrm>
          <a:prstGeom prst="rect">
            <a:avLst/>
          </a:prstGeom>
          <a:solidFill>
            <a:srgbClr val="563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3054096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部署別リソース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" y="3328415"/>
            <a:ext cx="2121408" cy="51206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1C1C1C"/>
                </a:solidFill>
                <a:latin typeface="メイリオ"/>
              </a:rPr>
              <a:t>部署を選択すると担当者ごとのタスクをガント下部に表示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3054096"/>
            <a:ext cx="212140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77440" y="3054096"/>
            <a:ext cx="2121408" cy="274320"/>
          </a:xfrm>
          <a:prstGeom prst="rect">
            <a:avLst/>
          </a:prstGeom>
          <a:solidFill>
            <a:srgbClr val="00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3054096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組立場所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3328415"/>
            <a:ext cx="2121408" cy="51206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1C1C1C"/>
                </a:solidFill>
                <a:latin typeface="メイリオ"/>
              </a:rPr>
              <a:t>組立エリア・番号でタスクを絞込み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054096"/>
            <a:ext cx="212140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3054096"/>
            <a:ext cx="2121408" cy="274320"/>
          </a:xfrm>
          <a:prstGeom prst="rect">
            <a:avLst/>
          </a:prstGeom>
          <a:solidFill>
            <a:srgbClr val="8D6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3054096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出張予定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3328415"/>
            <a:ext cx="2121408" cy="51206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1C1C1C"/>
                </a:solidFill>
                <a:latin typeface="メイリオ"/>
              </a:rPr>
              <a:t>is_business_trip フラグが付いたタスクのみ表示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59" y="3054096"/>
            <a:ext cx="212140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66559" y="3054096"/>
            <a:ext cx="2121408" cy="2743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59" y="3054096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完了済み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59" y="3328415"/>
            <a:ext cx="2121408" cy="51206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1C1C1C"/>
                </a:solidFill>
                <a:latin typeface="メイリオ"/>
              </a:rPr>
              <a:t>完了済み工事番号をガントから非表示にする管理機能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36576"/>
            <a:ext cx="8686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メイリオ"/>
              </a:rPr>
              <a:t>05  タスクの編集・追加・削除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9651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メイリオ"/>
              </a:rPr>
              <a:t>全体工程表 使い方ガイド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42976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566928"/>
            <a:ext cx="4297680" cy="274320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56692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</a:rPr>
              <a:t>タスクを編集する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841247"/>
            <a:ext cx="4297680" cy="1856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① タスクバーをダブルクリック（編集ダイアログが開く）</a:t>
            </a:r>
          </a:p>
          <a:p>
            <a:pPr algn="l"/>
            <a:r>
              <a:rPr sz="950" b="0">
                <a:solidFill>
                  <a:srgbClr val="555555"/>
                </a:solidFill>
                <a:latin typeface="メイリオ"/>
              </a:rPr>
              <a:t>   ※ ログインが必要です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② 以下の項目を編集できます：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   ・工事番号、見出し名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   ・フィルタ色分け（部署）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   ・機械名、ユニット名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   ・タスク名（選択式 + 自由入力）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   ・担当者（チェックボックス式）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   ・組立場所（エリア・番号）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   ・開始日～終了日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③「保存」ボタンで確定（Supabaseに自動保存）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566928"/>
            <a:ext cx="42976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66928"/>
            <a:ext cx="4297680" cy="2743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56692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</a:rPr>
              <a:t>タスクを追加・削除する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841247"/>
            <a:ext cx="4297680" cy="1856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276FB4"/>
                </a:solidFill>
                <a:latin typeface="メイリオ"/>
              </a:rPr>
              <a:t>【追加方法】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・グリッド右端の「＋」ボタンをクリック</a:t>
            </a:r>
          </a:p>
          <a:p>
            <a:pPr algn="l"/>
            <a:r>
              <a:rPr sz="950" b="0">
                <a:solidFill>
                  <a:srgbClr val="555555"/>
                </a:solidFill>
                <a:latin typeface="メイリオ"/>
              </a:rPr>
              <a:t>  （親の工事番号・見出し名を自動引継ぎ）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・ライトボックスで内容を入力して保存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/>
            </a:r>
          </a:p>
          <a:p>
            <a:pPr algn="l"/>
            <a:r>
              <a:rPr sz="950" b="1">
                <a:solidFill>
                  <a:srgbClr val="276FB4"/>
                </a:solidFill>
                <a:latin typeface="メイリオ"/>
              </a:rPr>
              <a:t>【削除方法】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・ライトボックス下部の「削除」ボタンをクリック</a:t>
            </a:r>
          </a:p>
          <a:p>
            <a:pPr algn="l"/>
            <a:r>
              <a:rPr sz="950" b="0">
                <a:solidFill>
                  <a:srgbClr val="555555"/>
                </a:solidFill>
                <a:latin typeface="メイリオ"/>
              </a:rPr>
              <a:t>  または Deleteキーを押す（要ログイン）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/>
            </a:r>
          </a:p>
          <a:p>
            <a:pPr algn="l"/>
            <a:r>
              <a:rPr sz="950" b="1">
                <a:solidFill>
                  <a:srgbClr val="276FB4"/>
                </a:solidFill>
                <a:latin typeface="メイリオ"/>
              </a:rPr>
              <a:t>【並び替え】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・タスク行をドラッグで順序変更（自動保存）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2816352"/>
            <a:ext cx="87782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2816352"/>
            <a:ext cx="877824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281635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</a:rPr>
              <a:t>バーの直接操作（インライン編集）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3090672"/>
            <a:ext cx="8778240" cy="17647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1C1C1C"/>
                </a:solidFill>
                <a:latin typeface="メイリオ"/>
              </a:rPr>
              <a:t>操作方法と効果：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　【ドラッグ移動】バーを左右にドラッグ → 開始日・終了日が変わります（自動保存）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　【右端リサイズ】バー右端をドラッグ → 期間（日数）を変更できます（自動保存）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　【チェックボックス】グリッドのチェックをONにするとタスク行がグレーアウト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　【🔍 ボタン】特定の見出し行（長納期品・出図など）をクリックで詳細画面へリンク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　【ライトボックス】ドラッグ可能なダイアログ（タイトルバーをドラッグして移動できます）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36576"/>
            <a:ext cx="8686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メイリオ"/>
              </a:rPr>
              <a:t>06  部署別リソース表示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9651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メイリオ"/>
              </a:rPr>
              <a:t>全体工程表 使い方ガイド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877824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566928"/>
            <a:ext cx="8778240" cy="274320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566928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</a:rPr>
              <a:t>部署別リソースとは？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841247"/>
            <a:ext cx="8778240" cy="11887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部署ボタンをクリックすると、ガントチャートの下部に「担当者ごとのタスク一覧」が表示されます。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各担当者の担当タスクをタイムライン上に並べて表示するため、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工数の重複・空き状況を一目で把握できます。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/>
            </a:r>
          </a:p>
          <a:p>
            <a:pPr algn="l"/>
            <a:r>
              <a:rPr sz="950" b="0">
                <a:solidFill>
                  <a:srgbClr val="555555"/>
                </a:solidFill>
                <a:latin typeface="メイリオ"/>
              </a:rPr>
              <a:t>※ 表示対象：選択した部署に属するタスク（is_detailed=TRUEの設計工程表専用タスクは除く）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176272"/>
            <a:ext cx="877824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2176272"/>
            <a:ext cx="877824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19456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76FB4"/>
                </a:solidFill>
                <a:latin typeface="メイリオ"/>
              </a:rPr>
              <a:t>部署：組立（5名）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450592"/>
            <a:ext cx="87782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2450592"/>
            <a:ext cx="3017520" cy="40233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450592"/>
            <a:ext cx="594360" cy="40233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1C1C1C"/>
                </a:solidFill>
                <a:latin typeface="メイリオ"/>
              </a:rPr>
              <a:t>田中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542032"/>
            <a:ext cx="731520" cy="19202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2542032"/>
            <a:ext cx="7315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1C1C1C"/>
                </a:solidFill>
                <a:latin typeface="メイリオ"/>
              </a:rPr>
              <a:t>2501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2542032"/>
            <a:ext cx="1188720" cy="19202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2542032"/>
            <a:ext cx="11887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1C1C1C"/>
                </a:solidFill>
                <a:latin typeface="メイリオ"/>
              </a:rPr>
              <a:t>2501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542032"/>
            <a:ext cx="731520" cy="19202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542032"/>
            <a:ext cx="7315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1C1C1C"/>
                </a:solidFill>
                <a:latin typeface="メイリオ"/>
              </a:rPr>
              <a:t>2501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871216"/>
            <a:ext cx="87782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2871216"/>
            <a:ext cx="3017520" cy="40233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2871216"/>
            <a:ext cx="594360" cy="40233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1C1C1C"/>
                </a:solidFill>
                <a:latin typeface="メイリオ"/>
              </a:rPr>
              <a:t>鈴木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2962656"/>
            <a:ext cx="731520" cy="19202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2962656"/>
            <a:ext cx="7315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1C1C1C"/>
                </a:solidFill>
                <a:latin typeface="メイリオ"/>
              </a:rPr>
              <a:t>2502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2962656"/>
            <a:ext cx="1188720" cy="19202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2962656"/>
            <a:ext cx="11887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1C1C1C"/>
                </a:solidFill>
                <a:latin typeface="メイリオ"/>
              </a:rPr>
              <a:t>2502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2962656"/>
            <a:ext cx="731520" cy="19202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2962656"/>
            <a:ext cx="7315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1C1C1C"/>
                </a:solidFill>
                <a:latin typeface="メイリオ"/>
              </a:rPr>
              <a:t>2502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291840"/>
            <a:ext cx="87782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" y="3291840"/>
            <a:ext cx="3017520" cy="40233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3291840"/>
            <a:ext cx="594360" cy="40233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1C1C1C"/>
                </a:solidFill>
                <a:latin typeface="メイリオ"/>
              </a:rPr>
              <a:t>佐藤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3383280"/>
            <a:ext cx="731520" cy="19202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0" y="3383280"/>
            <a:ext cx="7315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1C1C1C"/>
                </a:solidFill>
                <a:latin typeface="メイリオ"/>
              </a:rPr>
              <a:t>2503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3383280"/>
            <a:ext cx="1188720" cy="19202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0" y="3383280"/>
            <a:ext cx="11887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1C1C1C"/>
                </a:solidFill>
                <a:latin typeface="メイリオ"/>
              </a:rPr>
              <a:t>2503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3383280"/>
            <a:ext cx="731520" cy="19202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3383280"/>
            <a:ext cx="7315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1C1C1C"/>
                </a:solidFill>
                <a:latin typeface="メイリオ"/>
              </a:rPr>
              <a:t>2503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3712464"/>
            <a:ext cx="87782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82880" y="3712464"/>
            <a:ext cx="3017520" cy="40233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0" y="3712464"/>
            <a:ext cx="594360" cy="40233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1C1C1C"/>
                </a:solidFill>
                <a:latin typeface="メイリオ"/>
              </a:rPr>
              <a:t>山田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0" y="3803904"/>
            <a:ext cx="731520" cy="19202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0" y="3803904"/>
            <a:ext cx="7315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1C1C1C"/>
                </a:solidFill>
                <a:latin typeface="メイリオ"/>
              </a:rPr>
              <a:t>2504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03520" y="3803904"/>
            <a:ext cx="1188720" cy="19202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0" y="3803904"/>
            <a:ext cx="11887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1C1C1C"/>
                </a:solidFill>
                <a:latin typeface="メイリオ"/>
              </a:rPr>
              <a:t>2504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3803904"/>
            <a:ext cx="731520" cy="19202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0" y="3803904"/>
            <a:ext cx="7315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1C1C1C"/>
                </a:solidFill>
                <a:latin typeface="メイリオ"/>
              </a:rPr>
              <a:t>2504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" y="4133088"/>
            <a:ext cx="87782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82880" y="4133088"/>
            <a:ext cx="3017520" cy="40233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26080" y="4133088"/>
            <a:ext cx="594360" cy="40233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1C1C1C"/>
                </a:solidFill>
                <a:latin typeface="メイリオ"/>
              </a:rPr>
              <a:t>外注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91840" y="4224528"/>
            <a:ext cx="731520" cy="192024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91840" y="4224528"/>
            <a:ext cx="7315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1C1C1C"/>
                </a:solidFill>
                <a:latin typeface="メイリオ"/>
              </a:rPr>
              <a:t>2505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37760" y="4224528"/>
            <a:ext cx="1188720" cy="192024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37760" y="4224528"/>
            <a:ext cx="11887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1C1C1C"/>
                </a:solidFill>
                <a:latin typeface="メイリオ"/>
              </a:rPr>
              <a:t>2505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4224528"/>
            <a:ext cx="731520" cy="192024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0" y="4224528"/>
            <a:ext cx="7315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1C1C1C"/>
                </a:solidFill>
                <a:latin typeface="メイリオ"/>
              </a:rPr>
              <a:t>2505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2880" y="4773168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C0392B"/>
                </a:solidFill>
                <a:latin typeface="メイリオ"/>
              </a:rPr>
              <a:t>【重なり検知】同一担当者のタスクが重なる日は赤斜線で表示 ／ 担当者名をクリックすると個人リソースビューに切替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36576"/>
            <a:ext cx="8686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メイリオ"/>
              </a:rPr>
              <a:t>07  マイルストーンとタスクバー色分け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9651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メイリオ"/>
              </a:rPr>
              <a:t>全体工程表 使い方ガイド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8778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566928"/>
            <a:ext cx="8778240" cy="274320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566928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</a:rPr>
              <a:t>マイルストーン（特殊タスク）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841247"/>
            <a:ext cx="8778240" cy="1216151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特定のタスク名はマイルストーンとして特殊表示されます（期間変更不可・ドラッグ移動のみ）：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481328"/>
            <a:ext cx="168249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481328"/>
            <a:ext cx="1682496" cy="256032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1481328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● 外観検査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1755648"/>
            <a:ext cx="1591056" cy="42062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00" b="0">
                <a:solidFill>
                  <a:srgbClr val="1C1C1C"/>
                </a:solidFill>
                <a:latin typeface="メイリオ"/>
              </a:rPr>
              <a:t>赤丸  ／ 検査完了の節目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38528" y="1481328"/>
            <a:ext cx="168249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8528" y="1481328"/>
            <a:ext cx="1682496" cy="256032"/>
          </a:xfrm>
          <a:prstGeom prst="rect">
            <a:avLst/>
          </a:prstGeom>
          <a:solidFill>
            <a:srgbClr val="FBA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38528" y="1481328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▲ 客先立会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4248" y="1755648"/>
            <a:ext cx="1591056" cy="42062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00" b="0">
                <a:solidFill>
                  <a:srgbClr val="1C1C1C"/>
                </a:solidFill>
                <a:latin typeface="メイリオ"/>
              </a:rPr>
              <a:t>橙三角 ／ 客先確認の節目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481328"/>
            <a:ext cx="168249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4176" y="1481328"/>
            <a:ext cx="1682496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94176" y="1481328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◆ 出荷確認会議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9896" y="1755648"/>
            <a:ext cx="1591056" cy="42062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00" b="0">
                <a:solidFill>
                  <a:srgbClr val="1C1C1C"/>
                </a:solidFill>
                <a:latin typeface="メイリオ"/>
              </a:rPr>
              <a:t>青菱形 ／ 出荷前会議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49824" y="1481328"/>
            <a:ext cx="168249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49824" y="1481328"/>
            <a:ext cx="1682496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9824" y="1481328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★ 工場出荷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5544" y="1755648"/>
            <a:ext cx="1591056" cy="42062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00" b="0">
                <a:solidFill>
                  <a:srgbClr val="1C1C1C"/>
                </a:solidFill>
                <a:latin typeface="メイリオ"/>
              </a:rPr>
              <a:t>緑星形 ／ 出荷日の節目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5472" y="1481328"/>
            <a:ext cx="168249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05472" y="1481328"/>
            <a:ext cx="1682496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5472" y="1481328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🚚 部品送り開始日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1192" y="1755648"/>
            <a:ext cx="1591056" cy="42062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00" b="0">
                <a:solidFill>
                  <a:srgbClr val="1C1C1C"/>
                </a:solidFill>
                <a:latin typeface="メイリオ"/>
              </a:rPr>
              <a:t>機械組立タスクの開始より指定日数前に自動表示（ドラッグで日数調整可）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2313432"/>
            <a:ext cx="8778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" y="2313432"/>
            <a:ext cx="8778240" cy="2743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231343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</a:rPr>
              <a:t>タスクバーの色分け（部署別）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" y="2587751"/>
            <a:ext cx="8778240" cy="256031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部署（フィルタ色分け）に応じてタスクバーの色が変わります：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2971800"/>
            <a:ext cx="1408175" cy="475488"/>
          </a:xfrm>
          <a:prstGeom prst="rect">
            <a:avLst/>
          </a:prstGeom>
          <a:solidFill>
            <a:srgbClr val="428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2971800"/>
            <a:ext cx="1408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設計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19" y="2971800"/>
            <a:ext cx="1408175" cy="47548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45919" y="2971800"/>
            <a:ext cx="1408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製管 / 品証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2971800"/>
            <a:ext cx="1408175" cy="4754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0" y="2971800"/>
            <a:ext cx="1408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組立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2971800"/>
            <a:ext cx="1408175" cy="475488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2971800"/>
            <a:ext cx="1408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電装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2971800"/>
            <a:ext cx="1408175" cy="4754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2971800"/>
            <a:ext cx="1408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操業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2971800"/>
            <a:ext cx="1408175" cy="475488"/>
          </a:xfrm>
          <a:prstGeom prst="rect">
            <a:avLst/>
          </a:prstGeom>
          <a:solidFill>
            <a:srgbClr val="FF8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79" y="2971800"/>
            <a:ext cx="1408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営業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3538728"/>
            <a:ext cx="8778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2880" y="3538728"/>
            <a:ext cx="8778240" cy="2743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2880" y="3538728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</a:rPr>
              <a:t>その他の表示ルール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" y="3813048"/>
            <a:ext cx="8778240" cy="9418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【担当者の色分け】部署別フィルタ と 部署別リソース を同じ部署で同時に有効にすると、担当者ごとに色が変わります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【未担当警告】担当者が空欄のタスクは行が橙背景になり、担当列に ⚠️ マークが表示されます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【チェック済み行】チェックをONにした行は文字がグレーになり完了を視覚的に表現できます</a:t>
            </a:r>
          </a:p>
          <a:p>
            <a:pPr algn="l"/>
            <a:r>
              <a:rPr sz="950" b="0">
                <a:solidFill>
                  <a:srgbClr val="1C1C1C"/>
                </a:solidFill>
                <a:latin typeface="メイリオ"/>
              </a:rPr>
              <a:t>【工事境界線】工事番号が変わる行の上部に水平線が引かれ、工事の区切りがわかります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36576"/>
            <a:ext cx="8686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メイリオ"/>
              </a:rPr>
              <a:t>08  よくある質問・注意事項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9651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メイリオ"/>
              </a:rPr>
              <a:t>全体工程表 使い方ガイド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431596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566928"/>
            <a:ext cx="4315968" cy="274320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566928"/>
            <a:ext cx="4315968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Q.  タスクを編集できない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859536"/>
            <a:ext cx="4224528" cy="10332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1C1C1C"/>
                </a:solidFill>
                <a:latin typeface="メイリオ"/>
              </a:rPr>
              <a:t>ログインが必要です。画面右上の「ログイン」ボタンからログインしてください。
編集者アカウント以外は閲覧専用です。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566928"/>
            <a:ext cx="431596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566928"/>
            <a:ext cx="4315968" cy="274320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566928"/>
            <a:ext cx="4315968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Q.  表示が最新でない気がする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859536"/>
            <a:ext cx="4224528" cy="10332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1C1C1C"/>
                </a:solidFill>
                <a:latin typeface="メイリオ"/>
              </a:rPr>
              <a:t>ブラウザを再読み込み（F5）すると最新データを取得します。
自動保存はリアルタイムで行われますが、他の端末の変更は再読み込みで反映されます。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984248"/>
            <a:ext cx="431596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1984248"/>
            <a:ext cx="4315968" cy="274320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1984248"/>
            <a:ext cx="4315968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Q.  完了した工事を非表示にしたい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2276856"/>
            <a:ext cx="4224528" cy="10332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1C1C1C"/>
                </a:solidFill>
                <a:latin typeface="メイリオ"/>
              </a:rPr>
              <a:t>ツールバーの「完了済み」ボタンをクリックして完了済み工事番号管理モーダルを開きます。
対象の工事番号を「完了済へ移動」するとガントと工事一覧から非表示になります。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984248"/>
            <a:ext cx="431596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1984248"/>
            <a:ext cx="4315968" cy="274320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984248"/>
            <a:ext cx="4315968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Q.  出張予定タスクだけ見たい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276856"/>
            <a:ext cx="4224528" cy="10332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1C1C1C"/>
                </a:solidFill>
                <a:latin typeface="メイリオ"/>
              </a:rPr>
              <a:t>ツールバーの「出張予定」ボタンをONにすると、is_business_trip フラグが付いたタスクのみ表示されます。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3401568"/>
            <a:ext cx="431596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3401568"/>
            <a:ext cx="4315968" cy="274320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3401568"/>
            <a:ext cx="4315968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Q.  担当者が重複して登録されている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3694176"/>
            <a:ext cx="4224528" cy="10332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1C1C1C"/>
                </a:solidFill>
                <a:latin typeface="メイリオ"/>
              </a:rPr>
              <a:t>担当者はカンマ区切りで複数指定可能です。複数担当の場合は「田中, 鈴木」のように入力してください。
メイン担当（青字表示）はライトボックスで指定できます。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401568"/>
            <a:ext cx="431596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3401568"/>
            <a:ext cx="4315968" cy="274320"/>
          </a:xfrm>
          <a:prstGeom prst="rect">
            <a:avLst/>
          </a:prstGeom>
          <a:solidFill>
            <a:srgbClr val="27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401568"/>
            <a:ext cx="4315968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Q.  部品送りマーク(🚚)が表示されない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694176"/>
            <a:ext cx="4224528" cy="10332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1C1C1C"/>
                </a:solidFill>
                <a:latin typeface="メイリオ"/>
              </a:rPr>
              <a:t>「機械組立」という名前のタスクがある場合のみ表示されます。
デフォルトは開始7日前の位置に表示。ドラッグで日数を調整できます（ブラウザのローカルに保存）。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