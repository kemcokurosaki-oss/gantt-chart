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notesMasterIdLst>
    <p:notesMasterId r:id="rId12"/>
  </p:notesMasterIdLst>
  <p:sldIdLst>
    <p:sldId id="256" r:id="rId2"/>
    <p:sldId id="257" r:id="rId3"/>
    <p:sldId id="266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3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C6CA67-6603-4AC2-AC5B-2B62DBB42C3C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1FDB5-65A8-4413-B52A-1D0F5A9DFE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475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1FDB5-65A8-4413-B52A-1D0F5A9DFE4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420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3D9873-9F8E-F364-C7E1-F528C4FD8B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227E1A-3746-F703-6CCF-CB2F7E7628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02F13-2F63-ACAA-2065-E3B8AF670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449D27-FD49-C4FB-2859-51CD0C170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F80F22-FBBE-A82D-9F01-4287BAA19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1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77D202-C641-7FCA-8506-00F2A7CE0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603BF8-9451-A802-D93A-D33E4473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8D9E1A-71F9-8C90-932B-D78881CA0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0AB385-08D3-E110-9CE3-D19E8C93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2223BD-BDD6-81F8-BD43-D1CB11571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063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730924-CA2B-AB17-83D3-C5001876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5C86E2-2A45-2911-940F-AF072049D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0DCB6D-DF5A-B643-DF2E-BB4F17306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0E437D-C48F-6AD1-75E5-6A45D03CD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B79EF-0C75-C377-B7E4-0888815A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593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4C499-3D26-3B3C-64C1-0925D110B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C74EA4-E362-C2C5-0FD4-4F0228F5BC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3BC53C6-4A9E-B6B2-BC15-DCCEE0C34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1E7C05B-0F56-631C-9731-AEF7D724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3DA546-08E7-BB7E-7F2D-E5D2058D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BE93B04-76E9-759E-B417-8FB2AF666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584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32565F-C3BB-DC42-8E8D-C05B6D965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78B7DF-C2F2-0A69-0D4C-9A757733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088704F-76B8-293A-E084-7E16436B7A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4D68602-CF5F-35B6-1F3E-BAAFACBB6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BA4677-DBF4-AFAF-A887-BC73277B32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0F46344-5EE3-43B6-D1BE-492AD1B65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D5E1377-6F2A-5783-016E-08A36B521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A104993-9AAE-389C-23B0-F035FC0A9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004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3B2EA8-E189-DFD2-F762-62A28430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9ED779E-D36C-BB45-0490-66858BBEA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D4CF013-B28C-0EB0-9ABD-04914F7D4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D66F29-8835-DB40-325B-907B16DD0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3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CD32CB3-A1E9-0858-8366-5D913A1F7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8192835-16BA-ABBD-B2D8-00AA82891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31D105-F1B8-0B56-89E7-E93DC5B90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4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F1D223-4FEF-5455-9F27-82CFF65B4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4266646-684D-346B-FAE6-6621BF0FA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6EFDD9-C230-017A-2716-ACBF8F21B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218EA6D-EF79-C057-249A-E44BFB90D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2A7003-3FBD-B301-8240-0D53476F7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C6EBB2-EBC7-2197-412E-95D0040B2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21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E07733-E7A2-C47F-0F5C-922721A2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40331C9-8F8F-F4B0-DE27-A210832DDC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A7B1E6-A7D8-2109-ED5F-F90536C03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E0F458-21DF-0911-4057-A9672E1A8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04C249C-E485-8DEF-347E-3BDEF1D65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4C0E49-55B3-CD47-21EB-7565570F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356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D79840-E8F8-E393-DF50-6A5B297E2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74FE98-E52D-6244-A420-B82F471038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D68B82-5382-6767-FAB4-AE40F1B86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1E0216-58D3-FAAA-A081-C57371A5C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F7B334-F699-5EBE-8AE5-4716D3EE4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5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75BE228-B685-E29A-16DA-43CAD19306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275B4E-8879-2F4B-C3AA-4311A1F2E9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B87AB6-C679-E8C1-CC8B-6669E34BC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9D4BB8-4B4D-FC4A-AD6C-4DE1AE9F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A521D9-0F29-D9A6-4ED9-A01C85C7F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34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8A7286-4CD6-2480-CB12-1F0D3262C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142E1AB-36F7-B931-D5D4-52DFDBE948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166FF-6B77-FA36-15D8-B7075F5FB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23272A-A250-45F6-4C88-4F52FAC24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2499A9-AFB5-5ED9-ADF3-AB5E4510D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93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16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05856" y="0"/>
            <a:ext cx="54864" cy="514350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4864" cy="164592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1645920" cy="5486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731520"/>
            <a:ext cx="2194560" cy="292608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749808"/>
            <a:ext cx="21214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VIEWER'S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err="1">
                <a:solidFill>
                  <a:srgbClr val="162840"/>
                </a:solidFill>
                <a:latin typeface="Meiryo"/>
              </a:rPr>
              <a:t>全体工程表</a:t>
            </a:r>
            <a:endParaRPr sz="3400" b="1">
              <a:solidFill>
                <a:srgbClr val="162840"/>
              </a:solidFill>
              <a:latin typeface="Meiryo"/>
            </a:endParaRPr>
          </a:p>
          <a:p>
            <a:pPr algn="l"/>
            <a:r>
              <a:rPr sz="2200" b="1">
                <a:solidFill>
                  <a:srgbClr val="1E6BAA"/>
                </a:solidFill>
                <a:latin typeface="Meiryo"/>
              </a:rPr>
              <a:t>使い方ガイド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06624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err="1">
                <a:solidFill>
                  <a:srgbClr val="2A659A"/>
                </a:solidFill>
                <a:latin typeface="Meiryo"/>
              </a:rPr>
              <a:t>ログアウト状態（閲覧者）でできること</a:t>
            </a:r>
            <a:endParaRPr sz="12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145536"/>
            <a:ext cx="2743200" cy="27432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0" y="524441"/>
            <a:ext cx="29260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b="1">
                <a:solidFill>
                  <a:srgbClr val="7AB8E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目次</a:t>
            </a:r>
            <a:endParaRPr b="1" i="0">
              <a:solidFill>
                <a:srgbClr val="7AB8E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35040" y="859536"/>
            <a:ext cx="2560320" cy="2286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35040" y="106070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 err="1">
                <a:solidFill>
                  <a:srgbClr val="F0F6FF"/>
                </a:solidFill>
                <a:latin typeface="Meiryo"/>
              </a:rPr>
              <a:t>画面構成の概要</a:t>
            </a:r>
            <a:endParaRPr sz="1150" b="0" i="0">
              <a:solidFill>
                <a:srgbClr val="F0F6FF"/>
              </a:solidFill>
              <a:latin typeface="Meiryo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035040" y="160362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711734"/>
            <a:ext cx="26517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sz="1150">
                <a:solidFill>
                  <a:srgbClr val="F0F6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各ボタンの</a:t>
            </a:r>
            <a:r>
              <a:rPr sz="1150" b="0" i="0" err="1">
                <a:solidFill>
                  <a:srgbClr val="F0F6FF"/>
                </a:solidFill>
                <a:latin typeface="Meiryo"/>
              </a:rPr>
              <a:t>機能</a:t>
            </a:r>
            <a:endParaRPr sz="1150" b="0" i="0">
              <a:solidFill>
                <a:srgbClr val="F0F6FF"/>
              </a:solidFill>
              <a:latin typeface="Meiryo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035040" y="214654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209168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0F6FF"/>
                </a:solidFill>
                <a:latin typeface="Meiryo"/>
              </a:rPr>
              <a:t>表示の切り替え方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268946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263460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0F6FF"/>
                </a:solidFill>
                <a:latin typeface="Meiryo"/>
              </a:rPr>
              <a:t>フィルター・検索機能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0" y="323238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317752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0F6FF"/>
                </a:solidFill>
                <a:latin typeface="Meiryo"/>
              </a:rPr>
              <a:t>工事一覧とリソース機能の活用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0" y="377530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372044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0F6FF"/>
                </a:solidFill>
                <a:latin typeface="Meiryo"/>
              </a:rPr>
              <a:t>更新通知と更新履歴の確認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1  /  10</a:t>
            </a:r>
          </a:p>
        </p:txBody>
      </p:sp>
      <p:sp>
        <p:nvSpPr>
          <p:cNvPr id="27" name="TocOval7"/>
          <p:cNvSpPr/>
          <p:nvPr/>
        </p:nvSpPr>
        <p:spPr>
          <a:xfrm>
            <a:off x="6035040" y="431822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ocText7"/>
          <p:cNvSpPr txBox="1"/>
          <p:nvPr/>
        </p:nvSpPr>
        <p:spPr>
          <a:xfrm>
            <a:off x="6309360" y="426336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 err="1">
                <a:solidFill>
                  <a:srgbClr val="F0F6FF"/>
                </a:solidFill>
                <a:latin typeface="Meiryo"/>
              </a:rPr>
              <a:t>編集者との機能の違い（比較表）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000" b="1" i="0" noProof="1">
                <a:solidFill>
                  <a:srgbClr val="162840"/>
                </a:solidFill>
                <a:latin typeface="Meiryo"/>
              </a:rPr>
              <a:t>画面構成の概要</a:t>
            </a:r>
            <a:endParaRPr sz="2000" b="1" i="0">
              <a:solidFill>
                <a:srgbClr val="162840"/>
              </a:solidFill>
              <a:latin typeface="Meiry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8631936" cy="658368"/>
          </a:xfrm>
          <a:prstGeom prst="rect">
            <a:avLst/>
          </a:prstGeom>
          <a:solidFill>
            <a:srgbClr val="16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658368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73152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E0"/>
                </a:solidFill>
                <a:latin typeface="Meiryo"/>
              </a:rPr>
              <a:t>①  </a:t>
            </a:r>
            <a:r>
              <a:rPr sz="1200" b="1" i="0" err="1">
                <a:solidFill>
                  <a:srgbClr val="7AB8E0"/>
                </a:solidFill>
                <a:latin typeface="Meiryo"/>
              </a:rPr>
              <a:t>ヘッダーパネル（上部</a:t>
            </a:r>
            <a:r>
              <a:rPr sz="1200" b="1" i="0">
                <a:solidFill>
                  <a:srgbClr val="7AB8E0"/>
                </a:solidFill>
                <a:latin typeface="Meiryo"/>
              </a:rPr>
              <a:t>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00584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BDD5EE"/>
                </a:solidFill>
                <a:latin typeface="Meiryo"/>
              </a:rPr>
              <a:t>各種ボタン・フィルター操作エリア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389888"/>
            <a:ext cx="2487168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389888"/>
            <a:ext cx="2487168" cy="347472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389888"/>
            <a:ext cx="54864" cy="347472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② 工事一覧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828800"/>
            <a:ext cx="2487168" cy="457200"/>
          </a:xfrm>
          <a:prstGeom prst="rect">
            <a:avLst/>
          </a:prstGeom>
          <a:solidFill>
            <a:srgbClr val="C8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1920240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62840"/>
                </a:solidFill>
                <a:latin typeface="Meiryo"/>
              </a:rPr>
              <a:t>No.3001  ○○電機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304288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2395728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62840"/>
                </a:solidFill>
                <a:latin typeface="Meiryo"/>
              </a:rPr>
              <a:t>No.3002  △△産業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779776"/>
            <a:ext cx="2487168" cy="457200"/>
          </a:xfrm>
          <a:prstGeom prst="rect">
            <a:avLst/>
          </a:prstGeom>
          <a:solidFill>
            <a:srgbClr val="C8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287121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62840"/>
                </a:solidFill>
                <a:latin typeface="Meiryo"/>
              </a:rPr>
              <a:t>No.3003  □□工業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3255264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" y="3346704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62840"/>
                </a:solidFill>
                <a:latin typeface="Meiryo"/>
              </a:rPr>
              <a:t>No.3004  ××機械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30752"/>
            <a:ext cx="2487168" cy="457200"/>
          </a:xfrm>
          <a:prstGeom prst="rect">
            <a:avLst/>
          </a:prstGeom>
          <a:solidFill>
            <a:srgbClr val="C8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3822191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62840"/>
                </a:solidFill>
                <a:latin typeface="Meiryo"/>
              </a:rPr>
              <a:t>No.3005  ◎◎化工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672" y="4440750"/>
            <a:ext cx="248716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D94CF"/>
                </a:solidFill>
                <a:latin typeface="Meiryo"/>
              </a:rPr>
              <a:t>← </a:t>
            </a:r>
            <a:r>
              <a:rPr sz="900" b="0" i="0" err="1">
                <a:solidFill>
                  <a:srgbClr val="4D94CF"/>
                </a:solidFill>
                <a:latin typeface="Meiryo"/>
              </a:rPr>
              <a:t>クリックで</a:t>
            </a:r>
            <a:r>
              <a:rPr lang="ja-JP" altLang="en-US" sz="900" b="0" i="0">
                <a:solidFill>
                  <a:srgbClr val="4D94C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フィルター</a:t>
            </a:r>
            <a:r>
              <a:rPr sz="900" b="0" i="0" err="1">
                <a:solidFill>
                  <a:srgbClr val="4D94CF"/>
                </a:solidFill>
                <a:latin typeface="Meiryo"/>
              </a:rPr>
              <a:t>表示</a:t>
            </a:r>
            <a:endParaRPr sz="900" b="0" i="0">
              <a:solidFill>
                <a:srgbClr val="4D94CF"/>
              </a:solidFill>
              <a:latin typeface="Meiryo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798064" y="1389888"/>
            <a:ext cx="6089904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98064" y="1389888"/>
            <a:ext cx="6089904" cy="347472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98064" y="1389888"/>
            <a:ext cx="54864" cy="347472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44368" y="141732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③ ガントチャートエリア（右メイン）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1801368"/>
            <a:ext cx="585216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80360" y="1819656"/>
            <a:ext cx="5303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工程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38144" y="1801368"/>
            <a:ext cx="877824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65576" y="181965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タスク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1801368"/>
            <a:ext cx="640080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4340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4/28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1801368"/>
            <a:ext cx="640080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8348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5/5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96128" y="1801368"/>
            <a:ext cx="640080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2356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5/12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1801368"/>
            <a:ext cx="640080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364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5/19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76288" y="1801368"/>
            <a:ext cx="640080" cy="274320"/>
          </a:xfrm>
          <a:prstGeom prst="rect">
            <a:avLst/>
          </a:prstGeom>
          <a:solidFill>
            <a:srgbClr val="C8E3F5"/>
          </a:solidFill>
          <a:ln w="5080">
            <a:solidFill>
              <a:srgbClr val="7AB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90372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1E6BAA"/>
                </a:solidFill>
                <a:latin typeface="Meiryo"/>
              </a:rPr>
              <a:t>5/26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2103120"/>
            <a:ext cx="585216" cy="347472"/>
          </a:xfrm>
          <a:prstGeom prst="rect">
            <a:avLst/>
          </a:prstGeom>
          <a:solidFill>
            <a:srgbClr val="F0F6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852928" y="2157984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 err="1">
                <a:solidFill>
                  <a:srgbClr val="162840"/>
                </a:solidFill>
                <a:latin typeface="Meiryo"/>
              </a:rPr>
              <a:t>設計</a:t>
            </a:r>
            <a:endParaRPr sz="850" b="0" i="0">
              <a:solidFill>
                <a:srgbClr val="162840"/>
              </a:solidFill>
              <a:latin typeface="Meiryo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438144" y="2103120"/>
            <a:ext cx="877824" cy="347472"/>
          </a:xfrm>
          <a:prstGeom prst="rect">
            <a:avLst/>
          </a:prstGeom>
          <a:solidFill>
            <a:srgbClr val="F0F6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65576" y="2212848"/>
            <a:ext cx="841248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sz="850" b="0" i="0">
                <a:solidFill>
                  <a:srgbClr val="16284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出図</a:t>
            </a:r>
            <a:endParaRPr lang="en-US" altLang="ja-JP" sz="850">
              <a:solidFill>
                <a:srgbClr val="16284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315968" y="2167127"/>
            <a:ext cx="1371600" cy="201168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852928" y="2505456"/>
            <a:ext cx="585216" cy="347472"/>
          </a:xfrm>
          <a:prstGeom prst="rect">
            <a:avLst/>
          </a:prstGeom>
          <a:solidFill>
            <a:srgbClr val="F0F6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852928" y="2560320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162840"/>
                </a:solidFill>
                <a:latin typeface="Meiryo"/>
              </a:rPr>
              <a:t>製管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38144" y="2505456"/>
            <a:ext cx="877824" cy="347472"/>
          </a:xfrm>
          <a:prstGeom prst="rect">
            <a:avLst/>
          </a:prstGeom>
          <a:solidFill>
            <a:srgbClr val="F0F6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56432" y="2622933"/>
            <a:ext cx="841248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sz="850">
                <a:solidFill>
                  <a:srgbClr val="16284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部品製作</a:t>
            </a:r>
            <a:endParaRPr sz="850" b="0" i="0">
              <a:solidFill>
                <a:srgbClr val="16284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315968" y="2569463"/>
            <a:ext cx="2011680" cy="2011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52928" y="2907791"/>
            <a:ext cx="585216" cy="347472"/>
          </a:xfrm>
          <a:prstGeom prst="rect">
            <a:avLst/>
          </a:prstGeom>
          <a:solidFill>
            <a:srgbClr val="F0F6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852928" y="2962656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162840"/>
                </a:solidFill>
                <a:latin typeface="Meiryo"/>
              </a:rPr>
              <a:t>組立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38144" y="2907791"/>
            <a:ext cx="877824" cy="347472"/>
          </a:xfrm>
          <a:prstGeom prst="rect">
            <a:avLst/>
          </a:prstGeom>
          <a:solidFill>
            <a:srgbClr val="F0F6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456432" y="3025269"/>
            <a:ext cx="841248" cy="1308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sz="850" b="0" i="0">
                <a:solidFill>
                  <a:srgbClr val="16284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機械組立</a:t>
            </a:r>
            <a:endParaRPr sz="850" b="0" i="0">
              <a:solidFill>
                <a:srgbClr val="16284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297680" y="2971799"/>
            <a:ext cx="2560320" cy="2011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926080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162840"/>
                </a:solidFill>
                <a:latin typeface="Meiryo"/>
              </a:rPr>
              <a:t>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2112" y="4440192"/>
            <a:ext cx="877824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 err="1">
                <a:solidFill>
                  <a:srgbClr val="2A659A"/>
                </a:solidFill>
                <a:latin typeface="Meiryo"/>
              </a:rPr>
              <a:t>部品送り</a:t>
            </a:r>
            <a:endParaRPr sz="10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096512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B56A6A"/>
                </a:solidFill>
                <a:latin typeface="Meiryo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52544" y="4440192"/>
            <a:ext cx="877824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 err="1">
                <a:solidFill>
                  <a:srgbClr val="2A659A"/>
                </a:solidFill>
                <a:latin typeface="Meiryo"/>
              </a:rPr>
              <a:t>外観検査</a:t>
            </a:r>
            <a:endParaRPr sz="10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266944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C87A5A"/>
                </a:solidFill>
                <a:latin typeface="Meiryo"/>
              </a:rPr>
              <a:t>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22976" y="4440192"/>
            <a:ext cx="877824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 err="1">
                <a:solidFill>
                  <a:srgbClr val="2A659A"/>
                </a:solidFill>
                <a:latin typeface="Meiryo"/>
              </a:rPr>
              <a:t>客先立会</a:t>
            </a:r>
            <a:endParaRPr sz="10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437376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A8EAD"/>
                </a:solidFill>
                <a:latin typeface="Meiryo"/>
              </a:rPr>
              <a:t>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3408" y="4440192"/>
            <a:ext cx="877824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 err="1">
                <a:solidFill>
                  <a:srgbClr val="2A659A"/>
                </a:solidFill>
                <a:latin typeface="Meiryo"/>
              </a:rPr>
              <a:t>出荷会議</a:t>
            </a:r>
            <a:endParaRPr sz="10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607808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2E6FB5"/>
                </a:solidFill>
                <a:latin typeface="Meiryo"/>
              </a:rPr>
              <a:t>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4440192"/>
            <a:ext cx="877824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 err="1">
                <a:solidFill>
                  <a:srgbClr val="2A659A"/>
                </a:solidFill>
                <a:latin typeface="Meiryo"/>
              </a:rPr>
              <a:t>工場出荷</a:t>
            </a:r>
            <a:endParaRPr sz="10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2  /  10</a:t>
            </a:r>
          </a:p>
        </p:txBody>
      </p:sp>
      <p:sp>
        <p:nvSpPr>
          <p:cNvPr id="69" name="MarkLegendHeader"/>
          <p:cNvSpPr txBox="1"/>
          <p:nvPr/>
        </p:nvSpPr>
        <p:spPr>
          <a:xfrm>
            <a:off x="2944368" y="4217309"/>
            <a:ext cx="51950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A659A"/>
                </a:solidFill>
                <a:latin typeface="Meiryo"/>
              </a:rPr>
              <a:t>独自マーク凡例：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38719"/>
            <a:ext cx="8595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sz="2000" b="1">
                <a:solidFill>
                  <a:srgbClr val="16284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各ボタンの</a:t>
            </a:r>
            <a:r>
              <a:rPr sz="2000" b="1" i="0" err="1">
                <a:solidFill>
                  <a:srgbClr val="162840"/>
                </a:solidFill>
                <a:latin typeface="Meiryo"/>
              </a:rPr>
              <a:t>機能</a:t>
            </a:r>
            <a:endParaRPr sz="2000" b="1" i="0">
              <a:solidFill>
                <a:srgbClr val="162840"/>
              </a:solidFill>
              <a:latin typeface="Meiry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4224528" cy="5486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199339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969264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1035278"/>
            <a:ext cx="2926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chemeClr val="tx2">
                    <a:lumMod val="90000"/>
                    <a:lumOff val="10000"/>
                  </a:schemeClr>
                </a:solidFill>
                <a:latin typeface="Meiryo"/>
              </a:rPr>
              <a:t>ホバーで吹き出し表示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1353312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工事一覧にマウスをかざすと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客先名と工事名が右側に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吹き出しで表示されます。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709159" y="713232"/>
            <a:ext cx="4224528" cy="5486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09159" y="713232"/>
            <a:ext cx="54864" cy="1993392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928616" y="969264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751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1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E6BAA"/>
                </a:solidFill>
                <a:latin typeface="Meiryo"/>
              </a:rPr>
              <a:t>使い方ガイドボタン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8151" y="1353312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88151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右上「？使い方ガイド」クリックで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各UIボタンの説明がハイライト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表示されます。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背景クリックで閉じます。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2834639"/>
            <a:ext cx="4224528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" cy="1993392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93776" y="3090672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詳細工程表を開く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53312" y="3474720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53312" y="3566159"/>
            <a:ext cx="2999232" cy="1061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ja-JP" altLang="en-US" sz="115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「受注」→社内製作仕様書</a:t>
            </a:r>
            <a:endParaRPr sz="1150" b="0" i="0">
              <a:solidFill>
                <a:srgbClr val="2A659A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sz="115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sz="1150" b="0" i="0" err="1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長納期品手配</a:t>
            </a:r>
            <a:r>
              <a:rPr sz="115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  <a:r>
              <a:rPr lang="ja-JP" altLang="en-US" sz="115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→設計工程表（長納期品）</a:t>
            </a:r>
            <a:endParaRPr sz="1150" b="0" i="0">
              <a:solidFill>
                <a:srgbClr val="2A659A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sz="115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sz="1150" b="0" i="0" err="1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出図＆部品手配</a:t>
            </a:r>
            <a:r>
              <a:rPr sz="115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  <a:r>
              <a:rPr lang="ja-JP" altLang="en-US" sz="115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→設計工程表（図面）</a:t>
            </a:r>
            <a:endParaRPr lang="en-US" altLang="ja-JP" sz="1150" b="0" i="0">
              <a:solidFill>
                <a:srgbClr val="2A659A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sz="1150" b="0" i="0">
              <a:solidFill>
                <a:srgbClr val="2A659A"/>
              </a:solidFill>
              <a:latin typeface="Meiryo"/>
            </a:endParaRPr>
          </a:p>
          <a:p>
            <a:pPr algn="l"/>
            <a:r>
              <a:rPr sz="1150" b="0" i="0" err="1">
                <a:solidFill>
                  <a:srgbClr val="2A659A"/>
                </a:solidFill>
                <a:latin typeface="Meiryo"/>
              </a:rPr>
              <a:t>クリックで詳細工程表を</a:t>
            </a:r>
            <a:endParaRPr sz="1150" b="0" i="0">
              <a:solidFill>
                <a:srgbClr val="2A659A"/>
              </a:solidFill>
              <a:latin typeface="Meiryo"/>
            </a:endParaRPr>
          </a:p>
          <a:p>
            <a:pPr algn="l"/>
            <a:r>
              <a:rPr sz="1150" b="0" i="0" err="1">
                <a:solidFill>
                  <a:srgbClr val="2A659A"/>
                </a:solidFill>
                <a:latin typeface="Meiryo"/>
              </a:rPr>
              <a:t>別タブで開きます</a:t>
            </a:r>
            <a:r>
              <a:rPr sz="1150" b="0" i="0">
                <a:solidFill>
                  <a:srgbClr val="2A659A"/>
                </a:solidFill>
                <a:latin typeface="Meiryo"/>
              </a:rPr>
              <a:t>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59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59" y="2834639"/>
            <a:ext cx="4224528" cy="54864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09159" y="2834639"/>
            <a:ext cx="54864" cy="1993392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928616" y="3090672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73751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1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4D94CF"/>
                </a:solidFill>
                <a:latin typeface="Meiryo"/>
              </a:rPr>
              <a:t>グリッドの階層構造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88151" y="3474720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88151" y="3566159"/>
            <a:ext cx="2999232" cy="8848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グリッド左側の表は2段階構造。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見出し行（工番・</a:t>
            </a:r>
            <a:r>
              <a:rPr lang="ja-JP" altLang="en-US" sz="115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工程</a:t>
            </a:r>
            <a:r>
              <a:rPr sz="1150" b="0" i="0">
                <a:solidFill>
                  <a:srgbClr val="2A659A"/>
                </a:solidFill>
                <a:latin typeface="Meiryo"/>
              </a:rPr>
              <a:t>名）の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配下に各工程タスクが並びます。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▶クリックで折りたたみ・</a:t>
            </a:r>
          </a:p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展開できます。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3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62840"/>
                </a:solidFill>
                <a:latin typeface="Meiryo"/>
              </a:rPr>
              <a:t>表示の切り替え方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4224528" cy="54864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199339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969264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1035278"/>
            <a:ext cx="2926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chemeClr val="tx2">
                    <a:lumMod val="90000"/>
                    <a:lumOff val="10000"/>
                  </a:schemeClr>
                </a:solidFill>
                <a:latin typeface="Meiryo"/>
              </a:rPr>
              <a:t>表示リセット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1353312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オレンジ色のボタン。
すべてのフィルターと表示設定を
初期状態に戻します。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709159" y="713232"/>
            <a:ext cx="4224528" cy="5486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09159" y="713232"/>
            <a:ext cx="54864" cy="1993392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928616" y="969264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751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1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E6BAA"/>
                </a:solidFill>
                <a:latin typeface="Meiryo"/>
              </a:rPr>
              <a:t>工程別 / 機械別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8151" y="1353312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88151" y="1444752"/>
            <a:ext cx="2999232" cy="530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タスクの並び順を切り替えます。
工程別：</a:t>
            </a:r>
            <a:r>
              <a:rPr lang="ja-JP" altLang="en-US" sz="115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工程</a:t>
            </a:r>
            <a:r>
              <a:rPr sz="1150" b="0" i="0">
                <a:solidFill>
                  <a:srgbClr val="2A659A"/>
                </a:solidFill>
                <a:latin typeface="Meiryo"/>
              </a:rPr>
              <a:t>ごとに整理
機械別：機械単位でグループ化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2834639"/>
            <a:ext cx="4224528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" cy="1993392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93776" y="3090672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日単位 / 週単位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53312" y="3474720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53312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チャートのスケールを変更します。
日単位：細かい日程を確認
週単位：全体の流れを把握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59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59" y="2834639"/>
            <a:ext cx="4224528" cy="54864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09159" y="2834639"/>
            <a:ext cx="54864" cy="1993392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928616" y="3090672"/>
            <a:ext cx="694944" cy="694944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73751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1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4D94CF"/>
                </a:solidFill>
                <a:latin typeface="Meiryo"/>
              </a:rPr>
              <a:t>今日へ移動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88151" y="3474720"/>
            <a:ext cx="27432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88151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チャートを今日の日付まで
自動スクロールします。
現在の進捗確認に便利です。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4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62840"/>
                </a:solidFill>
                <a:latin typeface="Meiryo"/>
              </a:rPr>
              <a:t>フィルター・検索機能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40782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部署別フィルタ（プルダウン）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749039" cy="22860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" y="1097280"/>
            <a:ext cx="374903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A659A"/>
                </a:solidFill>
                <a:latin typeface="Meiryo"/>
              </a:rPr>
              <a:t>特定の部署のタスクだけを絞り込んで表示できます。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営業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設計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製管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組立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solidFill>
            <a:srgbClr val="7C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品証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solidFill>
            <a:srgbClr val="4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操業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solidFill>
            <a:srgbClr val="2E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solidFill>
            <a:srgbClr val="8A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明石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" y="3218688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5090C8"/>
                </a:solidFill>
                <a:latin typeface="Meiryo"/>
              </a:rPr>
              <a:t>▲ 選択すると対象部署のみ表示　/ 「全部署」でリセット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685800"/>
            <a:ext cx="44074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80560" y="685800"/>
            <a:ext cx="54864" cy="420624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45152" y="794635"/>
            <a:ext cx="41148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検索フィルター（検索ボタン）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45152" y="1042415"/>
            <a:ext cx="4114800" cy="22860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45152" y="1097280"/>
            <a:ext cx="4114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A659A"/>
                </a:solidFill>
                <a:latin typeface="Meiryo"/>
              </a:rPr>
              <a:t>上部の「検索」ボタンをクリックするとパネルが開きます。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5152" y="1536192"/>
            <a:ext cx="4114800" cy="658368"/>
          </a:xfrm>
          <a:prstGeom prst="rect">
            <a:avLst/>
          </a:prstGeom>
          <a:solidFill>
            <a:srgbClr val="F0F6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45152" y="1536192"/>
            <a:ext cx="54864" cy="6583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36592" y="1627632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1627632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C87A5A"/>
                </a:solidFill>
                <a:latin typeface="Meiryo"/>
              </a:rPr>
              <a:t>機械検索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93792" y="186537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A659A"/>
                </a:solidFill>
                <a:latin typeface="Meiryo"/>
              </a:rPr>
              <a:t>機械名のキーワードで絞り込み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45152" y="2286000"/>
            <a:ext cx="4114800" cy="658368"/>
          </a:xfrm>
          <a:prstGeom prst="rect">
            <a:avLst/>
          </a:prstGeom>
          <a:solidFill>
            <a:srgbClr val="F0F6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645152" y="2286000"/>
            <a:ext cx="54864" cy="658368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36592" y="2377440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2" y="2377440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タスク検索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2615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A659A"/>
                </a:solidFill>
                <a:latin typeface="Meiryo"/>
              </a:rPr>
              <a:t>タスク名のキーワードで絞り込み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45152" y="3035808"/>
            <a:ext cx="4114800" cy="658368"/>
          </a:xfrm>
          <a:prstGeom prst="rect">
            <a:avLst/>
          </a:prstGeom>
          <a:solidFill>
            <a:srgbClr val="F0F6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645152" y="3035808"/>
            <a:ext cx="54864" cy="6583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3127248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93792" y="31272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6A8EAD"/>
                </a:solidFill>
                <a:latin typeface="Meiryo"/>
              </a:rPr>
              <a:t>担当検索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93792" y="3364991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A659A"/>
                </a:solidFill>
                <a:latin typeface="Meiryo"/>
              </a:rPr>
              <a:t>担当者名で絞り込み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45152" y="3785615"/>
            <a:ext cx="4114800" cy="658368"/>
          </a:xfrm>
          <a:prstGeom prst="rect">
            <a:avLst/>
          </a:prstGeom>
          <a:solidFill>
            <a:srgbClr val="F0F6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45152" y="3785615"/>
            <a:ext cx="54864" cy="658368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736592" y="3877055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⚠️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3792" y="3877055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B56A6A"/>
                </a:solidFill>
                <a:latin typeface="Meiryo"/>
              </a:rPr>
              <a:t>担当未定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93792" y="4114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A659A"/>
                </a:solidFill>
                <a:latin typeface="Meiryo"/>
              </a:rPr>
              <a:t>担当が未設定のタスクのみ表示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5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62840"/>
                </a:solidFill>
                <a:latin typeface="Meiryo"/>
              </a:rPr>
              <a:t>工事一覧（左サイドバー）の使い方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1638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工事一覧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2834640" cy="22860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0896" y="1078992"/>
            <a:ext cx="3035808" cy="749808"/>
          </a:xfrm>
          <a:prstGeom prst="rect">
            <a:avLst/>
          </a:prstGeom>
          <a:solidFill>
            <a:srgbClr val="16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13385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▶ すべて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5331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BDD5EE"/>
                </a:solidFill>
                <a:latin typeface="Meiryo"/>
              </a:rPr>
              <a:t>　2000番台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BDD5EE"/>
                </a:solidFill>
                <a:latin typeface="Meiryo"/>
              </a:rPr>
              <a:t>　その他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1883664"/>
            <a:ext cx="3035808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9659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62840"/>
                </a:solidFill>
                <a:latin typeface="Meiryo"/>
              </a:rPr>
              <a:t>○○電機 搬送装置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23408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4231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62840"/>
                </a:solidFill>
                <a:latin typeface="Meiryo"/>
              </a:rPr>
              <a:t>△△産業 加工ライン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2798064"/>
            <a:ext cx="3035808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8803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62840"/>
                </a:solidFill>
                <a:latin typeface="Meiryo"/>
              </a:rPr>
              <a:t>□□工業 特注機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32552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3375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62840"/>
                </a:solidFill>
                <a:latin typeface="Meiryo"/>
              </a:rPr>
              <a:t>××精機 自動化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" y="3712464"/>
            <a:ext cx="3035808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7947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62840"/>
                </a:solidFill>
                <a:latin typeface="Meiryo"/>
              </a:rPr>
              <a:t>◎◎化工 充填機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" y="41696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42519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62840"/>
                </a:solidFill>
                <a:latin typeface="Meiryo"/>
              </a:rPr>
              <a:t>▽▽機械 搬送機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685800"/>
            <a:ext cx="53218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566160" y="685800"/>
            <a:ext cx="54864" cy="420624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30752" y="7498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操作方法と使い方のポイント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30752" y="1042415"/>
            <a:ext cx="5029200" cy="22860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730752" y="1133856"/>
            <a:ext cx="365760" cy="365760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730752" y="113385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9663" y="1133856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E6BAA"/>
                </a:solidFill>
                <a:latin typeface="Meiryo"/>
              </a:rPr>
              <a:t>工事番号フィルター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9663" y="1499616"/>
            <a:ext cx="45720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730752" y="1591056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A659A"/>
                </a:solidFill>
                <a:latin typeface="Meiryo"/>
              </a:rPr>
              <a:t>「▼」ボタンをクリックするとグループフィルターが
開きます。
・すべて
・2000番台
・その他</a:t>
            </a:r>
          </a:p>
        </p:txBody>
      </p:sp>
      <p:sp>
        <p:nvSpPr>
          <p:cNvPr id="47" name="Oval 46"/>
          <p:cNvSpPr/>
          <p:nvPr/>
        </p:nvSpPr>
        <p:spPr>
          <a:xfrm>
            <a:off x="3730751" y="2489774"/>
            <a:ext cx="365760" cy="365760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730751" y="2499601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9663" y="2489774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E6BAA"/>
                </a:solidFill>
                <a:latin typeface="Meiryo"/>
              </a:rPr>
              <a:t>工事名をクリック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9663" y="2807208"/>
            <a:ext cx="45720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30752" y="2924797"/>
            <a:ext cx="50292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A659A"/>
                </a:solidFill>
                <a:latin typeface="Meiryo"/>
              </a:rPr>
              <a:t>工事名をクリックすると、その工事に関連する
タスクがガントチャートで</a:t>
            </a:r>
            <a:r>
              <a:rPr lang="ja-JP" altLang="en-US" sz="110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強調表示</a:t>
            </a:r>
            <a:r>
              <a:rPr sz="1100" b="0" i="0">
                <a:solidFill>
                  <a:srgbClr val="2A659A"/>
                </a:solidFill>
                <a:latin typeface="Meiryo"/>
              </a:rPr>
              <a:t>されます。</a:t>
            </a:r>
          </a:p>
        </p:txBody>
      </p:sp>
      <p:sp>
        <p:nvSpPr>
          <p:cNvPr id="52" name="Oval 51"/>
          <p:cNvSpPr/>
          <p:nvPr/>
        </p:nvSpPr>
        <p:spPr>
          <a:xfrm>
            <a:off x="3730752" y="3385886"/>
            <a:ext cx="365760" cy="365760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730752" y="340704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69663" y="3412195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E6BAA"/>
                </a:solidFill>
                <a:latin typeface="Meiryo"/>
              </a:rPr>
              <a:t>タイトルをクリック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9663" y="3745149"/>
            <a:ext cx="45720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744548" y="3853213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A659A"/>
                </a:solidFill>
                <a:latin typeface="Meiryo"/>
              </a:rPr>
              <a:t>"工事一覧"のタイトル文字をクリックすると
フィルターが全解除されます（リセット）。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6  /  10</a:t>
            </a:r>
          </a:p>
        </p:txBody>
      </p:sp>
      <p:sp>
        <p:nvSpPr>
          <p:cNvPr id="58" name="TipBg"/>
          <p:cNvSpPr/>
          <p:nvPr/>
        </p:nvSpPr>
        <p:spPr>
          <a:xfrm>
            <a:off x="310896" y="4635000"/>
            <a:ext cx="3000000" cy="175000"/>
          </a:xfrm>
          <a:prstGeom prst="roundRect">
            <a:avLst>
              <a:gd name="adj" fmla="val 20000"/>
            </a:avLst>
          </a:prstGeom>
          <a:solidFill>
            <a:srgbClr val="C8E3F5"/>
          </a:solidFill>
          <a:ln w="5080">
            <a:solidFill>
              <a:srgbClr val="4D94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ipTxt"/>
          <p:cNvSpPr txBox="1"/>
          <p:nvPr/>
        </p:nvSpPr>
        <p:spPr>
          <a:xfrm>
            <a:off x="325000" y="4640000"/>
            <a:ext cx="2970000" cy="165000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800" b="0" i="0">
                <a:solidFill>
                  <a:srgbClr val="1A3E72"/>
                </a:solidFill>
                <a:latin typeface="Meiryo"/>
              </a:rPr>
              <a:t>💬 マウスをかざすと客先名・工事名が表示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38719"/>
            <a:ext cx="8595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err="1">
                <a:solidFill>
                  <a:srgbClr val="162840"/>
                </a:solidFill>
                <a:latin typeface="Meiryo"/>
              </a:rPr>
              <a:t>リソース機能</a:t>
            </a:r>
            <a:endParaRPr sz="2000" b="1" i="0">
              <a:solidFill>
                <a:srgbClr val="162840"/>
              </a:solidFill>
              <a:latin typeface="Meiry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2779776" cy="54864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4133087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" y="768096"/>
            <a:ext cx="2724912" cy="1024128"/>
          </a:xfrm>
          <a:prstGeom prst="rect">
            <a:avLst/>
          </a:prstGeom>
          <a:solidFill>
            <a:srgbClr val="C8E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E6BAA"/>
                </a:solidFill>
                <a:latin typeface="Meiryo"/>
              </a:rPr>
              <a:t>部署別リソース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94560"/>
            <a:ext cx="22860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プルダウンから部署を選択すると、
画面下部にリソースパネルが表示されます。
担当者ごとの業務量・稼働状況を
タイムライン形式で確認できます。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2112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82112" y="713232"/>
            <a:ext cx="2779776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82112" y="713232"/>
            <a:ext cx="54864" cy="4133087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36976" y="768096"/>
            <a:ext cx="2724912" cy="1024128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36976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704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組立場所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194560"/>
            <a:ext cx="22860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46704" y="2304288"/>
            <a:ext cx="2487168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「組立場所」ボタンをクリックすると
組立エリア（場所）ごとに
機械の配置状況を確認できます。
作業スペースの管理に活用できます。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9904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89904" y="713232"/>
            <a:ext cx="2779776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89904" y="713232"/>
            <a:ext cx="54864" cy="4133087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44768" y="768096"/>
            <a:ext cx="2724912" cy="1024128"/>
          </a:xfrm>
          <a:prstGeom prst="rect">
            <a:avLst/>
          </a:prstGeom>
          <a:solidFill>
            <a:srgbClr val="F5E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44768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✈️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出張予定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2194560"/>
            <a:ext cx="2286000" cy="22860"/>
          </a:xfrm>
          <a:prstGeom prst="rect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54496" y="2304288"/>
            <a:ext cx="2487168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A659A"/>
                </a:solidFill>
                <a:latin typeface="Meiryo"/>
              </a:rPr>
              <a:t>「出張予定」ボタンをクリックすると
担当者の出張スケジュールが
ガントチャートに表示されます。
不在期間の確認に役立ちます。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7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62840"/>
                </a:solidFill>
                <a:latin typeface="Meiryo"/>
              </a:rPr>
              <a:t>更新通知について（リアルタイム自動更新）</a:t>
            </a:r>
          </a:p>
        </p:txBody>
      </p:sp>
      <p:sp>
        <p:nvSpPr>
          <p:cNvPr id="6" name="Oval 5"/>
          <p:cNvSpPr/>
          <p:nvPr/>
        </p:nvSpPr>
        <p:spPr>
          <a:xfrm>
            <a:off x="438912" y="749808"/>
            <a:ext cx="1463040" cy="1463040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1" y="96012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✏️</a:t>
            </a:r>
          </a:p>
        </p:txBody>
      </p:sp>
      <p:sp>
        <p:nvSpPr>
          <p:cNvPr id="8" name="Oval 7"/>
          <p:cNvSpPr/>
          <p:nvPr/>
        </p:nvSpPr>
        <p:spPr>
          <a:xfrm>
            <a:off x="438912" y="731520"/>
            <a:ext cx="292608" cy="292608"/>
          </a:xfrm>
          <a:prstGeom prst="ellipse">
            <a:avLst/>
          </a:prstGeom>
          <a:solidFill>
            <a:srgbClr val="16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62840"/>
                </a:solidFill>
                <a:latin typeface="Meiryo"/>
              </a:rPr>
              <a:t>編集者が
工程表を更新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6815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7AB8E0"/>
                </a:solidFill>
                <a:latin typeface="Meiryo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2542032" y="749808"/>
            <a:ext cx="1463040" cy="1463040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42030" y="950976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🔄</a:t>
            </a:r>
          </a:p>
        </p:txBody>
      </p:sp>
      <p:sp>
        <p:nvSpPr>
          <p:cNvPr id="14" name="Oval 13"/>
          <p:cNvSpPr/>
          <p:nvPr/>
        </p:nvSpPr>
        <p:spPr>
          <a:xfrm>
            <a:off x="2542032" y="731520"/>
            <a:ext cx="292608" cy="292608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4203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2303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6BAA"/>
                </a:solidFill>
                <a:latin typeface="Meiryo"/>
              </a:rPr>
              <a:t>サーバーに
自動保存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5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7AB8E0"/>
                </a:solidFill>
                <a:latin typeface="Meiryo"/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4645152" y="749808"/>
            <a:ext cx="1463040" cy="1463040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45148" y="914400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🔔</a:t>
            </a:r>
          </a:p>
        </p:txBody>
      </p:sp>
      <p:sp>
        <p:nvSpPr>
          <p:cNvPr id="20" name="Oval 19"/>
          <p:cNvSpPr/>
          <p:nvPr/>
        </p:nvSpPr>
        <p:spPr>
          <a:xfrm>
            <a:off x="4645152" y="731520"/>
            <a:ext cx="292608" cy="292608"/>
          </a:xfrm>
          <a:prstGeom prst="ellipse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87A5A"/>
                </a:solidFill>
                <a:latin typeface="Meiryo"/>
              </a:rPr>
              <a:t>閲覧者の画面に
通知バナー表示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6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7AB8E0"/>
                </a:solidFill>
                <a:latin typeface="Meiryo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6748271" y="749808"/>
            <a:ext cx="1463040" cy="1463040"/>
          </a:xfrm>
          <a:prstGeom prst="ellipse">
            <a:avLst/>
          </a:prstGeom>
          <a:solidFill>
            <a:srgbClr val="BDD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48271" y="950976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✅</a:t>
            </a:r>
          </a:p>
        </p:txBody>
      </p:sp>
      <p:sp>
        <p:nvSpPr>
          <p:cNvPr id="26" name="Oval 25"/>
          <p:cNvSpPr/>
          <p:nvPr/>
        </p:nvSpPr>
        <p:spPr>
          <a:xfrm>
            <a:off x="6748271" y="731520"/>
            <a:ext cx="292608" cy="292608"/>
          </a:xfrm>
          <a:prstGeom prst="ellipse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48271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3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A8EAD"/>
                </a:solidFill>
                <a:latin typeface="Meiryo"/>
              </a:rPr>
              <a:t>最新の工程表が
自動反映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3090672"/>
            <a:ext cx="8266175" cy="457200"/>
          </a:xfrm>
          <a:prstGeom prst="rect">
            <a:avLst/>
          </a:prstGeom>
          <a:solidFill>
            <a:srgbClr val="16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8912" y="3090672"/>
            <a:ext cx="64008" cy="45720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306324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"/>
              </a:rPr>
              <a:t>🔔  工程表が更新されました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8173" y="3163824"/>
            <a:ext cx="62179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BDD5EE"/>
                </a:solidFill>
                <a:latin typeface="Meiryo"/>
              </a:rPr>
              <a:t>× </a:t>
            </a:r>
            <a:r>
              <a:rPr sz="1000" b="0" i="0" err="1">
                <a:solidFill>
                  <a:srgbClr val="BDD5EE"/>
                </a:solidFill>
                <a:latin typeface="Meiryo"/>
              </a:rPr>
              <a:t>閉じる</a:t>
            </a:r>
            <a:endParaRPr sz="1000" b="0" i="0">
              <a:solidFill>
                <a:srgbClr val="BDD5EE"/>
              </a:solidFill>
              <a:latin typeface="Meiryo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14091" y="3630333"/>
            <a:ext cx="777240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5090C8"/>
                </a:solidFill>
                <a:latin typeface="Meiryo"/>
              </a:rPr>
              <a:t>← 実際に表示されるバナーのイメージ（</a:t>
            </a:r>
            <a:r>
              <a:rPr lang="en-US" altLang="ja-JP" sz="950" b="0" i="1">
                <a:solidFill>
                  <a:srgbClr val="5090C8"/>
                </a:solidFill>
                <a:latin typeface="Meiryo"/>
              </a:rPr>
              <a:t>5</a:t>
            </a:r>
            <a:r>
              <a:rPr sz="950" b="0" i="1">
                <a:solidFill>
                  <a:srgbClr val="5090C8"/>
                </a:solidFill>
                <a:latin typeface="Meiryo"/>
              </a:rPr>
              <a:t>秒後に自動消去）</a:t>
            </a:r>
          </a:p>
        </p:txBody>
      </p:sp>
      <p:sp>
        <p:nvSpPr>
          <p:cNvPr id="34" name="Oval 33"/>
          <p:cNvSpPr/>
          <p:nvPr/>
        </p:nvSpPr>
        <p:spPr>
          <a:xfrm>
            <a:off x="438912" y="4105656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" y="4096512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4059936"/>
            <a:ext cx="795527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62840"/>
                </a:solidFill>
                <a:latin typeface="Meiryo"/>
              </a:rPr>
              <a:t>ページを開いたままでも最新情報が自動反映されます（手動更新不要）</a:t>
            </a:r>
          </a:p>
        </p:txBody>
      </p:sp>
      <p:sp>
        <p:nvSpPr>
          <p:cNvPr id="37" name="Oval 36"/>
          <p:cNvSpPr/>
          <p:nvPr/>
        </p:nvSpPr>
        <p:spPr>
          <a:xfrm>
            <a:off x="438912" y="4434840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0624" y="4425696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450785"/>
            <a:ext cx="7955279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62840"/>
                </a:solidFill>
                <a:latin typeface="Meiryo"/>
              </a:rPr>
              <a:t>通知バナーは</a:t>
            </a:r>
            <a:r>
              <a:rPr lang="en-US" altLang="ja-JP" sz="1100" b="0" i="0">
                <a:solidFill>
                  <a:srgbClr val="162840"/>
                </a:solidFill>
                <a:latin typeface="Meiryo"/>
              </a:rPr>
              <a:t>5</a:t>
            </a:r>
            <a:r>
              <a:rPr sz="1100" b="0" i="0">
                <a:solidFill>
                  <a:srgbClr val="162840"/>
                </a:solidFill>
                <a:latin typeface="Meiryo"/>
              </a:rPr>
              <a:t>秒後に自動で消えます</a:t>
            </a:r>
          </a:p>
        </p:txBody>
      </p:sp>
      <p:sp>
        <p:nvSpPr>
          <p:cNvPr id="40" name="Oval 39"/>
          <p:cNvSpPr/>
          <p:nvPr/>
        </p:nvSpPr>
        <p:spPr>
          <a:xfrm>
            <a:off x="438912" y="4764024"/>
            <a:ext cx="201168" cy="201168"/>
          </a:xfrm>
          <a:prstGeom prst="ellipse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0624" y="4754880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4718304"/>
            <a:ext cx="795527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62840"/>
                </a:solidFill>
                <a:latin typeface="Meiryo"/>
              </a:rPr>
              <a:t>編集者が「公開」ボタンを押したときに更新が通知されます（Supabase Realtimeによる即時通知）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8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62840"/>
                </a:solidFill>
                <a:latin typeface="Meiryo"/>
              </a:rPr>
              <a:t>更新履歴の確認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749039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操作手順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383280" cy="22860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02336" y="1133856"/>
            <a:ext cx="402336" cy="402336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" y="113385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152144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err="1">
                <a:solidFill>
                  <a:srgbClr val="2A659A"/>
                </a:solidFill>
                <a:latin typeface="Meiryo"/>
              </a:rPr>
              <a:t>画面右上の</a:t>
            </a:r>
            <a:r>
              <a:rPr sz="1100" b="0" i="0">
                <a:solidFill>
                  <a:srgbClr val="2A659A"/>
                </a:solidFill>
                <a:latin typeface="Meiryo"/>
              </a:rPr>
              <a:t>「📋 </a:t>
            </a:r>
            <a:r>
              <a:rPr sz="1100" b="0" i="0" err="1">
                <a:solidFill>
                  <a:srgbClr val="2A659A"/>
                </a:solidFill>
                <a:latin typeface="Meiryo"/>
              </a:rPr>
              <a:t>更新履歴」ボタンをクリックします</a:t>
            </a:r>
            <a:endParaRPr sz="11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1591056"/>
            <a:ext cx="54864" cy="402336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02336" y="2029967"/>
            <a:ext cx="402336" cy="402336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" y="2029967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048255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A659A"/>
                </a:solidFill>
                <a:latin typeface="Meiryo"/>
              </a:rPr>
              <a:t>モーダルウィンドウが開き、過去1ヶ月の変更履歴が一覧表示されます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487168"/>
            <a:ext cx="54864" cy="402336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02336" y="2926080"/>
            <a:ext cx="402336" cy="402336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2336" y="292608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44368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err="1">
                <a:solidFill>
                  <a:srgbClr val="2A659A"/>
                </a:solidFill>
                <a:latin typeface="Meiryo"/>
              </a:rPr>
              <a:t>変更日時・工事番号</a:t>
            </a:r>
            <a:r>
              <a:rPr sz="1100" b="0" i="0">
                <a:solidFill>
                  <a:srgbClr val="2A659A"/>
                </a:solidFill>
                <a:latin typeface="Meiryo"/>
              </a:rPr>
              <a:t>・</a:t>
            </a:r>
            <a:r>
              <a:rPr lang="ja-JP" altLang="en-US" sz="110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機械・ユニット・タスク名・</a:t>
            </a:r>
            <a:r>
              <a:rPr sz="1100" b="0" i="0" err="1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変更箇所・変更</a:t>
            </a:r>
            <a:r>
              <a:rPr lang="ja-JP" altLang="en-US" sz="1100" b="0" i="0">
                <a:solidFill>
                  <a:srgbClr val="2A659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元・変更者</a:t>
            </a:r>
            <a:r>
              <a:rPr sz="1100" b="0" i="0" err="1">
                <a:solidFill>
                  <a:srgbClr val="2A659A"/>
                </a:solidFill>
                <a:latin typeface="Meiryo"/>
              </a:rPr>
              <a:t>を確認できます</a:t>
            </a:r>
            <a:endParaRPr sz="11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3383280"/>
            <a:ext cx="54864" cy="402336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2336" y="3822191"/>
            <a:ext cx="402336" cy="402336"/>
          </a:xfrm>
          <a:prstGeom prst="ellipse">
            <a:avLst/>
          </a:prstGeom>
          <a:solidFill>
            <a:srgbClr val="1E6B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" y="3822191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3840479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err="1">
                <a:solidFill>
                  <a:srgbClr val="2A659A"/>
                </a:solidFill>
                <a:latin typeface="Meiryo"/>
              </a:rPr>
              <a:t>モーダル外をクリックするか、右上の</a:t>
            </a:r>
            <a:r>
              <a:rPr sz="1100" b="0" i="0">
                <a:solidFill>
                  <a:srgbClr val="2A659A"/>
                </a:solidFill>
                <a:latin typeface="Meiryo"/>
              </a:rPr>
              <a:t>「✕」</a:t>
            </a:r>
            <a:r>
              <a:rPr sz="1100" b="0" i="0" err="1">
                <a:solidFill>
                  <a:srgbClr val="2A659A"/>
                </a:solidFill>
                <a:latin typeface="Meiryo"/>
              </a:rPr>
              <a:t>で閉じます</a:t>
            </a:r>
            <a:endParaRPr sz="1100" b="0" i="0">
              <a:solidFill>
                <a:srgbClr val="2A659A"/>
              </a:solidFill>
              <a:latin typeface="Meiryo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151376" y="685800"/>
            <a:ext cx="4736592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51376" y="685800"/>
            <a:ext cx="54864" cy="420624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15968" y="749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E6BAA"/>
                </a:solidFill>
                <a:latin typeface="Meiryo"/>
              </a:rPr>
              <a:t>更新履歴ウィンドウのイメージ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1042415"/>
            <a:ext cx="4480560" cy="22860"/>
          </a:xfrm>
          <a:prstGeom prst="rect">
            <a:avLst/>
          </a:prstGeom>
          <a:solidFill>
            <a:srgbClr val="7A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24528" y="1115568"/>
            <a:ext cx="1170432" cy="274320"/>
          </a:xfrm>
          <a:prstGeom prst="rect">
            <a:avLst/>
          </a:prstGeom>
          <a:solidFill>
            <a:srgbClr val="1E6BA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61104" y="1133856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日時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1115568"/>
            <a:ext cx="914400" cy="274320"/>
          </a:xfrm>
          <a:prstGeom prst="rect">
            <a:avLst/>
          </a:prstGeom>
          <a:solidFill>
            <a:srgbClr val="1E6BA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31536" y="11338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工事番号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solidFill>
            <a:srgbClr val="1E6BA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45936" y="1133856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変更内容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1408176"/>
            <a:ext cx="1170432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61104" y="14721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4/28  14:30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1408176"/>
            <a:ext cx="914400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31536" y="14721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3001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408176"/>
            <a:ext cx="2432304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45936" y="14721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組立工程　開始日を5/10→5/8に変更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24528" y="18653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61104" y="19293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4/27  10:15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4960" y="18653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31536" y="19293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2001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18653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45936" y="19293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設計工程　担当を田中→佐藤に変更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2322576"/>
            <a:ext cx="1170432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61104" y="23865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4/26  16:42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60" y="2322576"/>
            <a:ext cx="914400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31536" y="23865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3002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2322576"/>
            <a:ext cx="2432304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45936" y="23865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品証工程　完了日を5/20→5/18に変更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24528" y="27797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61104" y="28437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4/25  9:00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7797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31536" y="28437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2002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27797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45936" y="28437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製管工程　新規タスク「部材発注」追加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24528" y="3236976"/>
            <a:ext cx="1170432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261104" y="33009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4/24  11:30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94960" y="3236976"/>
            <a:ext cx="914400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31536" y="33009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3001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60" y="3236976"/>
            <a:ext cx="2432304" cy="420624"/>
          </a:xfrm>
          <a:prstGeom prst="rect">
            <a:avLst/>
          </a:prstGeom>
          <a:solidFill>
            <a:srgbClr val="C8E3F5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45936" y="33009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客先立会マークを5/15に設定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36941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261104" y="37581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4/23  15:20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6941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31536" y="37581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3003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36941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BDD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345936" y="37581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62840"/>
                </a:solidFill>
                <a:latin typeface="Meiryo"/>
              </a:rPr>
              <a:t>出荷確認会議マークを5/25に設定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9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8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84124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"/>
              </a:rPr>
              <a:t>機能比較　― 閲覧者（未ログイン）  vs  編集者（ログイン済）―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48640"/>
            <a:ext cx="8412480" cy="22860"/>
          </a:xfrm>
          <a:prstGeom prst="rect">
            <a:avLst/>
          </a:prstGeom>
          <a:solidFill>
            <a:srgbClr val="4D9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4048" y="621792"/>
            <a:ext cx="3657600" cy="420624"/>
          </a:xfrm>
          <a:prstGeom prst="rect">
            <a:avLst/>
          </a:prstGeom>
          <a:solidFill>
            <a:srgbClr val="1E6BAA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621792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機能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621792"/>
            <a:ext cx="2523744" cy="420624"/>
          </a:xfrm>
          <a:prstGeom prst="rect">
            <a:avLst/>
          </a:prstGeom>
          <a:solidFill>
            <a:srgbClr val="1E6BAA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33087" y="621792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閲覧者（未ログイン）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65392" y="621792"/>
            <a:ext cx="2523744" cy="420624"/>
          </a:xfrm>
          <a:prstGeom prst="rect">
            <a:avLst/>
          </a:prstGeom>
          <a:solidFill>
            <a:srgbClr val="1E6BAA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56831" y="621792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編集者（ログイン済）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042416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042416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ガントチャートの閲覧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41648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104241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38544" y="104241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463040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1463040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フィルター・検索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41648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0" y="146304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65392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38544" y="146304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883664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188366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更新履歴の確認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0" y="188366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5392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38544" y="188366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304288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" y="2304288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リソースパネルの表示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41648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0" y="230428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5392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38544" y="230428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2724912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" y="2724912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更新通知バナーの受信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41648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0" y="2724912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38544" y="2850585"/>
            <a:ext cx="241401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  （</a:t>
            </a:r>
            <a:r>
              <a:rPr sz="1100" b="1" i="0" err="1">
                <a:solidFill>
                  <a:srgbClr val="B56A6A"/>
                </a:solidFill>
                <a:latin typeface="Meiryo"/>
              </a:rPr>
              <a:t>編集者は常に最新</a:t>
            </a:r>
            <a:r>
              <a:rPr sz="1100" b="1" i="0">
                <a:solidFill>
                  <a:srgbClr val="B56A6A"/>
                </a:solidFill>
                <a:latin typeface="Meiryo"/>
              </a:rPr>
              <a:t>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145536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5488" y="3145536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新規受注の登録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41648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0" y="314553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65392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38544" y="314553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3566160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75488" y="3566160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タスクの編集・削除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0" y="356616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65392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38544" y="356616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" y="3986784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75488" y="398678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工程表の更新（公開）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1648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0" y="398678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65392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38544" y="398678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4407408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75488" y="4407408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完了済み工事の管理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41648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0" y="440740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65392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62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38544" y="440740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AB8E0"/>
                </a:solidFill>
                <a:latin typeface="Meiryo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30839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7AB8E0"/>
                </a:solidFill>
                <a:latin typeface="Meiryo"/>
              </a:rPr>
              <a:t>閲覧専用でも、十分な情報確認が可能です。編集が必要な場合はログインしてください。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5090C8"/>
                </a:solidFill>
                <a:latin typeface="Meiryo"/>
              </a:rPr>
              <a:t>10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Words>638</Words>
  <Application>Microsoft Office PowerPoint</Application>
  <PresentationFormat>画面に合わせる (16:9)</PresentationFormat>
  <Paragraphs>252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メイリオ</vt:lpstr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黒崎 恵未</cp:lastModifiedBy>
  <cp:revision>6</cp:revision>
  <dcterms:created xsi:type="dcterms:W3CDTF">2013-01-27T09:14:16Z</dcterms:created>
  <dcterms:modified xsi:type="dcterms:W3CDTF">2026-04-30T06:55:14Z</dcterms:modified>
  <cp:category/>
</cp:coreProperties>
</file>