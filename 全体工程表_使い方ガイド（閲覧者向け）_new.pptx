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6" r:id="rId5"/>
    <p:sldId id="261" r:id="rId6"/>
    <p:sldId id="260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32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C6CA67-6603-4AC2-AC5B-2B62DBB42C3C}" type="datetimeFigureOut">
              <a:rPr kumimoji="1" lang="ja-JP" altLang="en-US" smtClean="0"/>
              <a:t>2026/4/30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71FDB5-65A8-4413-B52A-1D0F5A9DFE4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6475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71FDB5-65A8-4413-B52A-1D0F5A9DFE4E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4208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60720" y="0"/>
            <a:ext cx="3383280" cy="5143500"/>
          </a:xfrm>
          <a:prstGeom prst="rect">
            <a:avLst/>
          </a:prstGeom>
          <a:solidFill>
            <a:srgbClr val="193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05856" y="0"/>
            <a:ext cx="54864" cy="5143500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457200"/>
            <a:ext cx="54864" cy="164592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457200"/>
            <a:ext cx="1645920" cy="54864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40080" y="731520"/>
            <a:ext cx="2194560" cy="292608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4944" y="749808"/>
            <a:ext cx="212140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VIEWER'S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475488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400" b="1">
                <a:solidFill>
                  <a:srgbClr val="193928"/>
                </a:solidFill>
                <a:latin typeface="Meiryo"/>
              </a:rPr>
              <a:t>全体工程表</a:t>
            </a:r>
          </a:p>
          <a:p>
            <a:pPr algn="l"/>
            <a:r>
              <a:rPr sz="2200" b="1">
                <a:solidFill>
                  <a:srgbClr val="2D9B5E"/>
                </a:solidFill>
                <a:latin typeface="Meiryo"/>
              </a:rPr>
              <a:t>使い方ガイド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06624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 dirty="0" err="1">
                <a:solidFill>
                  <a:srgbClr val="3B7852"/>
                </a:solidFill>
                <a:latin typeface="Meiryo"/>
              </a:rPr>
              <a:t>ログアウト状態（閲覧者）でできること</a:t>
            </a:r>
            <a:endParaRPr sz="1200" b="0" i="0" dirty="0">
              <a:solidFill>
                <a:srgbClr val="3B7852"/>
              </a:solidFill>
              <a:latin typeface="Meiryo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145536"/>
            <a:ext cx="2743200" cy="27432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35040" y="524441"/>
            <a:ext cx="292608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b="1" dirty="0">
                <a:solidFill>
                  <a:srgbClr val="7ECFA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目次</a:t>
            </a:r>
            <a:endParaRPr b="1" i="0" dirty="0">
              <a:solidFill>
                <a:srgbClr val="7ECFA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035040" y="859536"/>
            <a:ext cx="2560320" cy="22860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035040" y="106070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00584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 dirty="0" err="1">
                <a:solidFill>
                  <a:srgbClr val="F6FFFA"/>
                </a:solidFill>
                <a:latin typeface="Meiryo"/>
              </a:rPr>
              <a:t>画面の構成と各エリアの役割</a:t>
            </a:r>
            <a:endParaRPr sz="1150" b="0" i="0" dirty="0">
              <a:solidFill>
                <a:srgbClr val="F6FFFA"/>
              </a:solidFill>
              <a:latin typeface="Meiryo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035040" y="160362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54876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6FFFA"/>
                </a:solidFill>
                <a:latin typeface="Meiryo"/>
              </a:rPr>
              <a:t>グリッドと追加機能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0" y="214654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209168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6FFFA"/>
                </a:solidFill>
                <a:latin typeface="Meiryo"/>
              </a:rPr>
              <a:t>独自マーク凡例（アイコンの意味）</a:t>
            </a:r>
          </a:p>
        </p:txBody>
      </p:sp>
      <p:sp>
        <p:nvSpPr>
          <p:cNvPr id="20" name="Oval 19"/>
          <p:cNvSpPr/>
          <p:nvPr/>
        </p:nvSpPr>
        <p:spPr>
          <a:xfrm>
            <a:off x="6035040" y="268946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9360" y="263460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6FFFA"/>
                </a:solidFill>
                <a:latin typeface="Meiryo"/>
              </a:rPr>
              <a:t>表示切替・フィルター・検索の使い方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0" y="323238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9360" y="317752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6FFFA"/>
                </a:solidFill>
                <a:latin typeface="Meiryo"/>
              </a:rPr>
              <a:t>工事一覧とリソース機能の活用</a:t>
            </a:r>
          </a:p>
        </p:txBody>
      </p:sp>
      <p:sp>
        <p:nvSpPr>
          <p:cNvPr id="24" name="Oval 23"/>
          <p:cNvSpPr/>
          <p:nvPr/>
        </p:nvSpPr>
        <p:spPr>
          <a:xfrm>
            <a:off x="6035040" y="377530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372044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F6FFFA"/>
                </a:solidFill>
                <a:latin typeface="Meiryo"/>
              </a:rPr>
              <a:t>リアルタイム更新通知の仕組み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1  /  11</a:t>
            </a:r>
          </a:p>
        </p:txBody>
      </p:sp>
      <p:sp>
        <p:nvSpPr>
          <p:cNvPr id="27" name="TocOval7"/>
          <p:cNvSpPr/>
          <p:nvPr/>
        </p:nvSpPr>
        <p:spPr>
          <a:xfrm>
            <a:off x="6035040" y="431822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ocText7"/>
          <p:cNvSpPr txBox="1"/>
          <p:nvPr/>
        </p:nvSpPr>
        <p:spPr>
          <a:xfrm>
            <a:off x="6309360" y="426336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 dirty="0" err="1">
                <a:solidFill>
                  <a:srgbClr val="F6FFFA"/>
                </a:solidFill>
                <a:latin typeface="Meiryo"/>
              </a:rPr>
              <a:t>編集者との機能の違い（比較表）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93928"/>
                </a:solidFill>
                <a:latin typeface="Meiryo"/>
              </a:rPr>
              <a:t>画面構成の概要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8631936" cy="658368"/>
          </a:xfrm>
          <a:prstGeom prst="rect">
            <a:avLst/>
          </a:prstGeom>
          <a:solidFill>
            <a:srgbClr val="193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658368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2336" y="731520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7ECFA0"/>
                </a:solidFill>
                <a:latin typeface="Meiryo"/>
              </a:rPr>
              <a:t>①  ヘッダーパネル（上部）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005840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2EDE0"/>
                </a:solidFill>
                <a:latin typeface="Meiryo"/>
              </a:rPr>
              <a:t>各種ボタン・フィルター操作エリア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" y="1389888"/>
            <a:ext cx="2487168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389888"/>
            <a:ext cx="2487168" cy="347472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56032" y="1389888"/>
            <a:ext cx="54864" cy="347472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02336" y="1417320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② 工事一覧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1828800"/>
            <a:ext cx="2487168" cy="457200"/>
          </a:xfrm>
          <a:prstGeom prst="rect">
            <a:avLst/>
          </a:prstGeom>
          <a:solidFill>
            <a:srgbClr val="CF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84048" y="1920240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B3927"/>
                </a:solidFill>
                <a:latin typeface="Meiryo"/>
              </a:rPr>
              <a:t>No.3001  ○○電機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304288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" y="2395728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B3927"/>
                </a:solidFill>
                <a:latin typeface="Meiryo"/>
              </a:rPr>
              <a:t>No.3002  △△産業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6032" y="2779776"/>
            <a:ext cx="2487168" cy="457200"/>
          </a:xfrm>
          <a:prstGeom prst="rect">
            <a:avLst/>
          </a:prstGeom>
          <a:solidFill>
            <a:srgbClr val="CF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4048" y="2871216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B3927"/>
                </a:solidFill>
                <a:latin typeface="Meiryo"/>
              </a:rPr>
              <a:t>No.3003  □□工業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" y="3255264"/>
            <a:ext cx="2487168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" y="3346704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B3927"/>
                </a:solidFill>
                <a:latin typeface="Meiryo"/>
              </a:rPr>
              <a:t>No.3004  ××機械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3730752"/>
            <a:ext cx="2487168" cy="457200"/>
          </a:xfrm>
          <a:prstGeom prst="rect">
            <a:avLst/>
          </a:prstGeom>
          <a:solidFill>
            <a:srgbClr val="CF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" y="3822191"/>
            <a:ext cx="22860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0" i="0">
                <a:solidFill>
                  <a:srgbClr val="1B3927"/>
                </a:solidFill>
                <a:latin typeface="Meiryo"/>
              </a:rPr>
              <a:t>No.3005  ◎◎化工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4279392"/>
            <a:ext cx="248716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DBD7D"/>
                </a:solidFill>
                <a:latin typeface="Meiryo"/>
              </a:rPr>
              <a:t>← クリックで強調表示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98064" y="1389888"/>
            <a:ext cx="6089904" cy="3456432"/>
          </a:xfrm>
          <a:prstGeom prst="rect">
            <a:avLst/>
          </a:prstGeom>
          <a:solidFill>
            <a:srgbClr val="FFFFFF"/>
          </a:solidFill>
          <a:ln w="1524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98064" y="1389888"/>
            <a:ext cx="6089904" cy="347472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98064" y="1389888"/>
            <a:ext cx="54864" cy="347472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44368" y="1417320"/>
            <a:ext cx="576072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③ ガントチャートエリア（右メイン）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52928" y="1801368"/>
            <a:ext cx="585216" cy="274320"/>
          </a:xfrm>
          <a:prstGeom prst="rect">
            <a:avLst/>
          </a:prstGeom>
          <a:solidFill>
            <a:srgbClr val="CFF0DE"/>
          </a:solidFill>
          <a:ln w="508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880360" y="1819656"/>
            <a:ext cx="5303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2D9B5E"/>
                </a:solidFill>
                <a:latin typeface="Meiryo"/>
              </a:rPr>
              <a:t>工程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38144" y="1801368"/>
            <a:ext cx="877824" cy="274320"/>
          </a:xfrm>
          <a:prstGeom prst="rect">
            <a:avLst/>
          </a:prstGeom>
          <a:solidFill>
            <a:srgbClr val="CFF0DE"/>
          </a:solidFill>
          <a:ln w="508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65576" y="1819656"/>
            <a:ext cx="822959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2D9B5E"/>
                </a:solidFill>
                <a:latin typeface="Meiryo"/>
              </a:rPr>
              <a:t>タスク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15968" y="1801368"/>
            <a:ext cx="640080" cy="274320"/>
          </a:xfrm>
          <a:prstGeom prst="rect">
            <a:avLst/>
          </a:prstGeom>
          <a:solidFill>
            <a:srgbClr val="CFF0DE"/>
          </a:solidFill>
          <a:ln w="508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4340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2D9B5E"/>
                </a:solidFill>
                <a:latin typeface="Meiryo"/>
              </a:rPr>
              <a:t>4/28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1801368"/>
            <a:ext cx="640080" cy="274320"/>
          </a:xfrm>
          <a:prstGeom prst="rect">
            <a:avLst/>
          </a:prstGeom>
          <a:solidFill>
            <a:srgbClr val="CFF0DE"/>
          </a:solidFill>
          <a:ln w="508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98348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2D9B5E"/>
                </a:solidFill>
                <a:latin typeface="Meiryo"/>
              </a:rPr>
              <a:t>5/5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96128" y="1801368"/>
            <a:ext cx="640080" cy="274320"/>
          </a:xfrm>
          <a:prstGeom prst="rect">
            <a:avLst/>
          </a:prstGeom>
          <a:solidFill>
            <a:srgbClr val="CFF0DE"/>
          </a:solidFill>
          <a:ln w="508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62356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2D9B5E"/>
                </a:solidFill>
                <a:latin typeface="Meiryo"/>
              </a:rPr>
              <a:t>5/12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36208" y="1801368"/>
            <a:ext cx="640080" cy="274320"/>
          </a:xfrm>
          <a:prstGeom prst="rect">
            <a:avLst/>
          </a:prstGeom>
          <a:solidFill>
            <a:srgbClr val="CFF0DE"/>
          </a:solidFill>
          <a:ln w="508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6364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2D9B5E"/>
                </a:solidFill>
                <a:latin typeface="Meiryo"/>
              </a:rPr>
              <a:t>5/19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76288" y="1801368"/>
            <a:ext cx="640080" cy="274320"/>
          </a:xfrm>
          <a:prstGeom prst="rect">
            <a:avLst/>
          </a:prstGeom>
          <a:solidFill>
            <a:srgbClr val="CFF0DE"/>
          </a:solidFill>
          <a:ln w="5080">
            <a:solidFill>
              <a:srgbClr val="7EC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903720" y="1819656"/>
            <a:ext cx="585215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2D9B5E"/>
                </a:solidFill>
                <a:latin typeface="Meiryo"/>
              </a:rPr>
              <a:t>5/26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52928" y="2103120"/>
            <a:ext cx="585216" cy="347472"/>
          </a:xfrm>
          <a:prstGeom prst="rect">
            <a:avLst/>
          </a:prstGeom>
          <a:solidFill>
            <a:srgbClr val="F6FFFA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852928" y="2157984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1B3927"/>
                </a:solidFill>
                <a:latin typeface="Meiryo"/>
              </a:rPr>
              <a:t>設計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38144" y="2103120"/>
            <a:ext cx="877824" cy="347472"/>
          </a:xfrm>
          <a:prstGeom prst="rect">
            <a:avLst/>
          </a:prstGeom>
          <a:solidFill>
            <a:srgbClr val="F6FFFA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456432" y="2157984"/>
            <a:ext cx="84124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1B3927"/>
                </a:solidFill>
                <a:latin typeface="Meiryo"/>
              </a:rPr>
              <a:t>基本設計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15968" y="2167127"/>
            <a:ext cx="1371600" cy="201168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2852928" y="2505456"/>
            <a:ext cx="585216" cy="347472"/>
          </a:xfrm>
          <a:prstGeom prst="rect">
            <a:avLst/>
          </a:prstGeom>
          <a:solidFill>
            <a:srgbClr val="F6FFFA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852928" y="2560320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1B3927"/>
                </a:solidFill>
                <a:latin typeface="Meiryo"/>
              </a:rPr>
              <a:t>製管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38144" y="2505456"/>
            <a:ext cx="877824" cy="347472"/>
          </a:xfrm>
          <a:prstGeom prst="rect">
            <a:avLst/>
          </a:prstGeom>
          <a:solidFill>
            <a:srgbClr val="F6FFFA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56432" y="2560320"/>
            <a:ext cx="84124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1B3927"/>
                </a:solidFill>
                <a:latin typeface="Meiryo"/>
              </a:rPr>
              <a:t>部材調達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15968" y="2569463"/>
            <a:ext cx="2011680" cy="2011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852928" y="2907791"/>
            <a:ext cx="585216" cy="347472"/>
          </a:xfrm>
          <a:prstGeom prst="rect">
            <a:avLst/>
          </a:prstGeom>
          <a:solidFill>
            <a:srgbClr val="F6FFFA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2852928" y="2962656"/>
            <a:ext cx="585216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50" b="0" i="0">
                <a:solidFill>
                  <a:srgbClr val="1B3927"/>
                </a:solidFill>
                <a:latin typeface="Meiryo"/>
              </a:rPr>
              <a:t>組立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38144" y="2907791"/>
            <a:ext cx="877824" cy="347472"/>
          </a:xfrm>
          <a:prstGeom prst="rect">
            <a:avLst/>
          </a:prstGeom>
          <a:solidFill>
            <a:srgbClr val="F6FFFA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456432" y="2962656"/>
            <a:ext cx="841248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1B3927"/>
                </a:solidFill>
                <a:latin typeface="Meiryo"/>
              </a:rPr>
              <a:t>機械組立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95928" y="2971799"/>
            <a:ext cx="2560320" cy="2011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926080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1B3927"/>
                </a:solidFill>
                <a:latin typeface="Meiryo"/>
              </a:rPr>
              <a:t>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2112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3B7852"/>
                </a:solidFill>
                <a:latin typeface="Meiryo"/>
              </a:rPr>
              <a:t>部品送り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96512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B56A6A"/>
                </a:solidFill>
                <a:latin typeface="Meiryo"/>
              </a:rPr>
              <a:t>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52544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3B7852"/>
                </a:solidFill>
                <a:latin typeface="Meiryo"/>
              </a:rPr>
              <a:t>外観検査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266944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C87A5A"/>
                </a:solidFill>
                <a:latin typeface="Meiryo"/>
              </a:rPr>
              <a:t>▲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22976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3B7852"/>
                </a:solidFill>
                <a:latin typeface="Meiryo"/>
              </a:rPr>
              <a:t>客先立会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37376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6A8EAD"/>
                </a:solidFill>
                <a:latin typeface="Meiryo"/>
              </a:rPr>
              <a:t>◆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93408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3B7852"/>
                </a:solidFill>
                <a:latin typeface="Meiryo"/>
              </a:rPr>
              <a:t>出荷会議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07808" y="4370832"/>
            <a:ext cx="256032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4E9E3A"/>
                </a:solidFill>
                <a:latin typeface="Meiryo"/>
              </a:rPr>
              <a:t>★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63840" y="4389120"/>
            <a:ext cx="877824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0" i="0">
                <a:solidFill>
                  <a:srgbClr val="3B7852"/>
                </a:solidFill>
                <a:latin typeface="Meiryo"/>
              </a:rPr>
              <a:t>工場出荷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2  / 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93928"/>
                </a:solidFill>
                <a:latin typeface="Meiryo"/>
              </a:rPr>
              <a:t>表示の切り替え方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4224528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1993392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969264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表示リセット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53312" y="1353312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オレンジ色のボタン。
すべてのフィルターと表示設定を
初期状態に戻します。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709159" y="713232"/>
            <a:ext cx="4224528" cy="54864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09159" y="713232"/>
            <a:ext cx="54864" cy="1993392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928616" y="969264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73751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1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2D9B5E"/>
                </a:solidFill>
                <a:latin typeface="Meiryo"/>
              </a:rPr>
              <a:t>工程別 / 機械別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88151" y="1353312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88151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タスクの並び順を切り替えます。
工程別：部署ごとに整理
機械別：機械単位でグループ化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2834639"/>
            <a:ext cx="4224528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" cy="1993392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93776" y="3090672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日単位 / 週単位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53312" y="3474720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53312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チャートのスケールを変更します。
日単位：細かい日程を確認
週単位：全体の流れを把握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59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59" y="2834639"/>
            <a:ext cx="4224528" cy="54864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09159" y="2834639"/>
            <a:ext cx="54864" cy="1993392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928616" y="3090672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73751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1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4DBD7D"/>
                </a:solidFill>
                <a:latin typeface="Meiryo"/>
              </a:rPr>
              <a:t>今日へ移動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88151" y="3474720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88151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チャートを今日の日付まで
自動スクロールします。
現在の進捗確認に便利です。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5  / 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38719"/>
            <a:ext cx="8595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ja-JP" altLang="en-US" sz="2000" b="1" dirty="0">
                <a:solidFill>
                  <a:srgbClr val="193928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各ボタンの</a:t>
            </a:r>
            <a:r>
              <a:rPr sz="2000" b="1" i="0" dirty="0" err="1">
                <a:solidFill>
                  <a:srgbClr val="193928"/>
                </a:solidFill>
                <a:latin typeface="Meiryo"/>
              </a:rPr>
              <a:t>機能</a:t>
            </a:r>
            <a:endParaRPr sz="2000" b="1" i="0" dirty="0">
              <a:solidFill>
                <a:srgbClr val="193928"/>
              </a:solidFill>
              <a:latin typeface="Meiry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4224528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1993392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6" y="969264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ホバーで吹き出し表示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53312" y="1353312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3312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工事一覧にマウスをかざすと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客先名と工事名が右側に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吹き出しで表示されます。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59" y="713232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709159" y="713232"/>
            <a:ext cx="4224528" cy="54864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09159" y="713232"/>
            <a:ext cx="54864" cy="1993392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4928616" y="969264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873751" y="914400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88151" y="969264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2D9B5E"/>
                </a:solidFill>
                <a:latin typeface="Meiryo"/>
              </a:rPr>
              <a:t>使い方ガイドボタン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88151" y="1353312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88151" y="1444752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右上「？使い方ガイド」クリックで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各UIボタンの説明がハイライト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表示されます。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背景クリックで閉じます。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4320" y="2834639"/>
            <a:ext cx="4224528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74320" y="2834639"/>
            <a:ext cx="54864" cy="1993392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493776" y="3090672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8912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詳細工程表を開く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53312" y="3474720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53312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グリッドの見出し行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「長納期品手配」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「出図＆部品手配」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に表示されるボタン。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クリックで詳細工程表を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別タブで開きます。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59" y="2834639"/>
            <a:ext cx="4224528" cy="1993392"/>
          </a:xfrm>
          <a:prstGeom prst="rect">
            <a:avLst/>
          </a:prstGeom>
          <a:solidFill>
            <a:srgbClr val="FFFFFF"/>
          </a:solidFill>
          <a:ln w="762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709159" y="2834639"/>
            <a:ext cx="4224528" cy="54864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709159" y="2834639"/>
            <a:ext cx="54864" cy="1993392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4928616" y="3090672"/>
            <a:ext cx="694944" cy="694944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73751" y="3035808"/>
            <a:ext cx="804672" cy="8046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latin typeface="Meiryo"/>
              </a:rPr>
              <a:t>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1" y="3090672"/>
            <a:ext cx="29260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4DBD7D"/>
                </a:solidFill>
                <a:latin typeface="Meiryo"/>
              </a:rPr>
              <a:t>グリッドの階層構造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88151" y="3474720"/>
            <a:ext cx="27432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88151" y="3566159"/>
            <a:ext cx="2999232" cy="1133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グリッド左側の表は2段階構造。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見出し行（工番・機械名）の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配下に各工程タスクが並びます。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▶クリックで折りたたみ・</a:t>
            </a:r>
          </a:p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展開できます。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3  / 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93928"/>
                </a:solidFill>
                <a:latin typeface="Meiryo"/>
              </a:rPr>
              <a:t>工事一覧（左サイドバー）の使い方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1638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D9B5E"/>
                </a:solidFill>
                <a:latin typeface="Meiryo"/>
              </a:rPr>
              <a:t>工事一覧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2834640" cy="22860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0896" y="1078992"/>
            <a:ext cx="3035808" cy="749808"/>
          </a:xfrm>
          <a:prstGeom prst="rect">
            <a:avLst/>
          </a:prstGeom>
          <a:solidFill>
            <a:srgbClr val="193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113385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eiryo"/>
              </a:rPr>
              <a:t>▶ すべて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5331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2EDE0"/>
                </a:solidFill>
                <a:latin typeface="Meiryo"/>
              </a:rPr>
              <a:t>　2000番台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7276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D2EDE0"/>
                </a:solidFill>
                <a:latin typeface="Meiryo"/>
              </a:rPr>
              <a:t>　その他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" y="1883664"/>
            <a:ext cx="3035808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10896" y="1883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9659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B3927"/>
                </a:solidFill>
                <a:latin typeface="Meiryo"/>
              </a:rPr>
              <a:t>○○電機 搬送装置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0896" y="23408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10896" y="23408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4231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B3927"/>
                </a:solidFill>
                <a:latin typeface="Meiryo"/>
              </a:rPr>
              <a:t>△△産業 加工ライン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0896" y="2798064"/>
            <a:ext cx="3035808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10896" y="27980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28803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B3927"/>
                </a:solidFill>
                <a:latin typeface="Meiryo"/>
              </a:rPr>
              <a:t>□□工業 特注機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" y="32552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0896" y="32552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3375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B3927"/>
                </a:solidFill>
                <a:latin typeface="Meiryo"/>
              </a:rPr>
              <a:t>××精機 自動化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0896" y="3712464"/>
            <a:ext cx="3035808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0896" y="37124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3003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37947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B3927"/>
                </a:solidFill>
                <a:latin typeface="Meiryo"/>
              </a:rPr>
              <a:t>◎◎化工 充填機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0896" y="4169664"/>
            <a:ext cx="3035808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10896" y="4169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Meiryo"/>
              </a:rPr>
              <a:t>2003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4251960"/>
            <a:ext cx="252374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1B3927"/>
                </a:solidFill>
                <a:latin typeface="Meiryo"/>
              </a:rPr>
              <a:t>▽▽機械 搬送機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66160" y="685800"/>
            <a:ext cx="53218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566160" y="685800"/>
            <a:ext cx="54864" cy="4206240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30752" y="74980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D9B5E"/>
                </a:solidFill>
                <a:latin typeface="Meiryo"/>
              </a:rPr>
              <a:t>操作方法と使い方のポイント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730752" y="1042415"/>
            <a:ext cx="5029200" cy="22860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3730752" y="1133856"/>
            <a:ext cx="365760" cy="365760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730752" y="113385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9663" y="1133856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D9B5E"/>
                </a:solidFill>
                <a:latin typeface="Meiryo"/>
              </a:rPr>
              <a:t>工事番号フィルター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69663" y="1499616"/>
            <a:ext cx="45720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730752" y="1591056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B7852"/>
                </a:solidFill>
                <a:latin typeface="Meiryo"/>
              </a:rPr>
              <a:t>「▼」ボタンをクリックするとグループフィルターが
開きます。
・すべて
・2000番台
・その他</a:t>
            </a:r>
          </a:p>
        </p:txBody>
      </p:sp>
      <p:sp>
        <p:nvSpPr>
          <p:cNvPr id="47" name="Oval 46"/>
          <p:cNvSpPr/>
          <p:nvPr/>
        </p:nvSpPr>
        <p:spPr>
          <a:xfrm>
            <a:off x="3730752" y="2377440"/>
            <a:ext cx="365760" cy="365760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730752" y="2377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②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69663" y="2377440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D9B5E"/>
                </a:solidFill>
                <a:latin typeface="Meiryo"/>
              </a:rPr>
              <a:t>工事名をクリック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69663" y="2743200"/>
            <a:ext cx="45720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730752" y="2834640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B7852"/>
                </a:solidFill>
                <a:latin typeface="Meiryo"/>
              </a:rPr>
              <a:t>工事名をクリックすると、その工事に関連する
タスクがガントチャートで強調表示されます。</a:t>
            </a:r>
          </a:p>
        </p:txBody>
      </p:sp>
      <p:sp>
        <p:nvSpPr>
          <p:cNvPr id="52" name="Oval 51"/>
          <p:cNvSpPr/>
          <p:nvPr/>
        </p:nvSpPr>
        <p:spPr>
          <a:xfrm>
            <a:off x="3730752" y="3621024"/>
            <a:ext cx="365760" cy="365760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730752" y="36210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"/>
              </a:rPr>
              <a:t>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69663" y="3621024"/>
            <a:ext cx="457200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2D9B5E"/>
                </a:solidFill>
                <a:latin typeface="Meiryo"/>
              </a:rPr>
              <a:t>タイトルをクリック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9663" y="3986784"/>
            <a:ext cx="45720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3730752" y="4078224"/>
            <a:ext cx="5029200" cy="69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B7852"/>
                </a:solidFill>
                <a:latin typeface="Meiryo"/>
              </a:rPr>
              <a:t>"工事一覧"のタイトル文字をクリックすると
フィルターが全解除されます（リセット）。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7  /  11</a:t>
            </a:r>
          </a:p>
        </p:txBody>
      </p:sp>
      <p:sp>
        <p:nvSpPr>
          <p:cNvPr id="58" name="TipBg"/>
          <p:cNvSpPr/>
          <p:nvPr/>
        </p:nvSpPr>
        <p:spPr>
          <a:xfrm>
            <a:off x="310896" y="4635000"/>
            <a:ext cx="3000000" cy="175000"/>
          </a:xfrm>
          <a:prstGeom prst="roundRect">
            <a:avLst>
              <a:gd name="adj" fmla="val 20000"/>
            </a:avLst>
          </a:prstGeom>
          <a:solidFill>
            <a:srgbClr val="CFF0DE"/>
          </a:solidFill>
          <a:ln w="5080">
            <a:solidFill>
              <a:srgbClr val="4DBD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ipTxt"/>
          <p:cNvSpPr txBox="1"/>
          <p:nvPr/>
        </p:nvSpPr>
        <p:spPr>
          <a:xfrm>
            <a:off x="325000" y="4640000"/>
            <a:ext cx="2970000" cy="165000"/>
          </a:xfrm>
          <a:prstGeom prst="rect">
            <a:avLst/>
          </a:prstGeom>
          <a:noFill/>
        </p:spPr>
        <p:txBody>
          <a:bodyPr wrap="square" lIns="45720" tIns="0" rIns="45720" bIns="0" anchor="ctr">
            <a:spAutoFit/>
          </a:bodyPr>
          <a:lstStyle/>
          <a:p>
            <a:pPr algn="l"/>
            <a:r>
              <a:rPr sz="800" b="0" i="0">
                <a:solidFill>
                  <a:srgbClr val="1A5E32"/>
                </a:solidFill>
                <a:latin typeface="Meiryo"/>
              </a:rPr>
              <a:t>💬 マウスをかざすと客先名・工事名が表示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93928"/>
                </a:solidFill>
                <a:latin typeface="Meiryo"/>
              </a:rPr>
              <a:t>フィルター・検索機能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4078224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D9B5E"/>
                </a:solidFill>
                <a:latin typeface="Meiryo"/>
              </a:rPr>
              <a:t>部署別フィルタ（プルダウン）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749039" cy="22860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0624" y="1097280"/>
            <a:ext cx="3749039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B7852"/>
                </a:solidFill>
                <a:latin typeface="Meiryo"/>
              </a:rPr>
              <a:t>特定の部署のタスクだけを絞り込んで表示できます。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営業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82495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設計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44368" y="1508760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製管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0624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組立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solidFill>
            <a:srgbClr val="7C6A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82495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944368" y="2039112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品証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solidFill>
            <a:srgbClr val="4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0624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操業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solidFill>
            <a:srgbClr val="4E9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682495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電技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solidFill>
            <a:srgbClr val="8A6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44368" y="2569463"/>
            <a:ext cx="1170432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"/>
              </a:rPr>
              <a:t>明石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" y="3218688"/>
            <a:ext cx="3749039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68C293"/>
                </a:solidFill>
                <a:latin typeface="Meiryo"/>
              </a:rPr>
              <a:t>▲ 選択すると対象部署のみ表示　/ 「全部署」でリセット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60" y="685800"/>
            <a:ext cx="4407408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480560" y="685800"/>
            <a:ext cx="54864" cy="4206240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45152" y="749808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D9B5E"/>
                </a:solidFill>
                <a:latin typeface="Meiryo"/>
              </a:rPr>
              <a:t>検索フィルター（🔍 検索ボタン）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45152" y="1042415"/>
            <a:ext cx="4114800" cy="22860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45152" y="1097280"/>
            <a:ext cx="4114800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3B7852"/>
                </a:solidFill>
                <a:latin typeface="Meiryo"/>
              </a:rPr>
              <a:t>上部の「🔍 検索」ボタンをクリックするとパネルが開きます。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45152" y="1536192"/>
            <a:ext cx="4114800" cy="658368"/>
          </a:xfrm>
          <a:prstGeom prst="rect">
            <a:avLst/>
          </a:prstGeom>
          <a:solidFill>
            <a:srgbClr val="F6FFFA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645152" y="1536192"/>
            <a:ext cx="54864" cy="658368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36592" y="1627632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1627632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C87A5A"/>
                </a:solidFill>
                <a:latin typeface="Meiryo"/>
              </a:rPr>
              <a:t>機械検索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93792" y="1865376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3B7852"/>
                </a:solidFill>
                <a:latin typeface="Meiryo"/>
              </a:rPr>
              <a:t>機械名のキーワードで絞り込み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45152" y="2286000"/>
            <a:ext cx="4114800" cy="658368"/>
          </a:xfrm>
          <a:prstGeom prst="rect">
            <a:avLst/>
          </a:prstGeom>
          <a:solidFill>
            <a:srgbClr val="F6FFFA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645152" y="2286000"/>
            <a:ext cx="54864" cy="658368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736592" y="2377440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93792" y="2377440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D9B5E"/>
                </a:solidFill>
                <a:latin typeface="Meiryo"/>
              </a:rPr>
              <a:t>タスク検索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93792" y="2615184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3B7852"/>
                </a:solidFill>
                <a:latin typeface="Meiryo"/>
              </a:rPr>
              <a:t>タスク名のキーワードで絞り込み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45152" y="3035808"/>
            <a:ext cx="4114800" cy="658368"/>
          </a:xfrm>
          <a:prstGeom prst="rect">
            <a:avLst/>
          </a:prstGeom>
          <a:solidFill>
            <a:srgbClr val="F6FFFA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645152" y="3035808"/>
            <a:ext cx="54864" cy="658368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36592" y="3127248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93792" y="3127248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6A8EAD"/>
                </a:solidFill>
                <a:latin typeface="Meiryo"/>
              </a:rPr>
              <a:t>担当検索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93792" y="3364991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3B7852"/>
                </a:solidFill>
                <a:latin typeface="Meiryo"/>
              </a:rPr>
              <a:t>担当者名で絞り込み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45152" y="3785615"/>
            <a:ext cx="4114800" cy="658368"/>
          </a:xfrm>
          <a:prstGeom prst="rect">
            <a:avLst/>
          </a:prstGeom>
          <a:solidFill>
            <a:srgbClr val="F6FFFA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4645152" y="3785615"/>
            <a:ext cx="54864" cy="658368"/>
          </a:xfrm>
          <a:prstGeom prst="rect">
            <a:avLst/>
          </a:prstGeom>
          <a:solidFill>
            <a:srgbClr val="B56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736592" y="3877055"/>
            <a:ext cx="4023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0" i="0">
                <a:latin typeface="Meiryo"/>
              </a:rPr>
              <a:t>⚠️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193792" y="3877055"/>
            <a:ext cx="3383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B56A6A"/>
                </a:solidFill>
                <a:latin typeface="Meiryo"/>
              </a:rPr>
              <a:t>担当未定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93792" y="4114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0" i="0">
                <a:solidFill>
                  <a:srgbClr val="3B7852"/>
                </a:solidFill>
                <a:latin typeface="Meiryo"/>
              </a:rPr>
              <a:t>担当が未設定のタスクのみ表示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6  / 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138719"/>
            <a:ext cx="85953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193928"/>
                </a:solidFill>
                <a:latin typeface="Meiryo"/>
              </a:rPr>
              <a:t>リソース機能</a:t>
            </a:r>
            <a:endParaRPr sz="2000" b="1" i="0" dirty="0">
              <a:solidFill>
                <a:srgbClr val="193928"/>
              </a:solidFill>
              <a:latin typeface="Meiryo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74320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74320" y="713232"/>
            <a:ext cx="2779776" cy="54864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74320" y="713232"/>
            <a:ext cx="54864" cy="4133087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" y="768096"/>
            <a:ext cx="2724912" cy="1024128"/>
          </a:xfrm>
          <a:prstGeom prst="rect">
            <a:avLst/>
          </a:prstGeom>
          <a:solidFill>
            <a:srgbClr val="CFF0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9184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2D9B5E"/>
                </a:solidFill>
                <a:latin typeface="Meiryo"/>
              </a:rPr>
              <a:t>部署別リソース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" y="2194560"/>
            <a:ext cx="22860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" y="2304288"/>
            <a:ext cx="2487168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プルダウンから部署を選択すると、
画面下部にリソースパネルが表示されます。
担当者ごとの業務量・稼働状況を
タイムライン形式で確認できます。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2112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82112" y="713232"/>
            <a:ext cx="2779776" cy="54864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182112" y="713232"/>
            <a:ext cx="54864" cy="4133087"/>
          </a:xfrm>
          <a:prstGeom prst="rect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36976" y="768096"/>
            <a:ext cx="2724912" cy="1024128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36976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6704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6A8EAD"/>
                </a:solidFill>
                <a:latin typeface="Meiryo"/>
              </a:rPr>
              <a:t>組立場所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6704" y="2194560"/>
            <a:ext cx="22860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46704" y="2304288"/>
            <a:ext cx="2487168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「組立場所」ボタンをクリックすると、
組立エリア（場所）ごとに
機械の配置状況を確認できます。
作業スペースの管理に活用できます。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9904" y="713232"/>
            <a:ext cx="2779776" cy="4133087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89904" y="713232"/>
            <a:ext cx="2779776" cy="54864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89904" y="713232"/>
            <a:ext cx="54864" cy="4133087"/>
          </a:xfrm>
          <a:prstGeom prst="rect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44768" y="768096"/>
            <a:ext cx="2724912" cy="1024128"/>
          </a:xfrm>
          <a:prstGeom prst="rect">
            <a:avLst/>
          </a:prstGeom>
          <a:solidFill>
            <a:srgbClr val="F5EC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44768" y="749808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400" b="0" i="0">
                <a:latin typeface="Meiryo"/>
              </a:rPr>
              <a:t>✈️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1810512"/>
            <a:ext cx="2468880" cy="3474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C87A5A"/>
                </a:solidFill>
                <a:latin typeface="Meiryo"/>
              </a:rPr>
              <a:t>出張予定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54496" y="2194560"/>
            <a:ext cx="2286000" cy="22860"/>
          </a:xfrm>
          <a:prstGeom prst="rect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254496" y="2304288"/>
            <a:ext cx="2487168" cy="23591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3B7852"/>
                </a:solidFill>
                <a:latin typeface="Meiryo"/>
              </a:rPr>
              <a:t>「出張予定」ボタンをクリックすると、
担当者の出張スケジュールが
ガントチャートに表示されます。
不在期間の確認に役立ちます。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8  / 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93928"/>
                </a:solidFill>
                <a:latin typeface="Meiryo"/>
              </a:rPr>
              <a:t>更新通知について（リアルタイム自動更新）</a:t>
            </a:r>
          </a:p>
        </p:txBody>
      </p:sp>
      <p:sp>
        <p:nvSpPr>
          <p:cNvPr id="6" name="Oval 5"/>
          <p:cNvSpPr/>
          <p:nvPr/>
        </p:nvSpPr>
        <p:spPr>
          <a:xfrm>
            <a:off x="438912" y="749808"/>
            <a:ext cx="1463040" cy="1463040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12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✏️</a:t>
            </a:r>
          </a:p>
        </p:txBody>
      </p:sp>
      <p:sp>
        <p:nvSpPr>
          <p:cNvPr id="8" name="Oval 7"/>
          <p:cNvSpPr/>
          <p:nvPr/>
        </p:nvSpPr>
        <p:spPr>
          <a:xfrm>
            <a:off x="438912" y="731520"/>
            <a:ext cx="292608" cy="292608"/>
          </a:xfrm>
          <a:prstGeom prst="ellipse">
            <a:avLst/>
          </a:prstGeom>
          <a:solidFill>
            <a:srgbClr val="193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193928"/>
                </a:solidFill>
                <a:latin typeface="Meiryo"/>
              </a:rPr>
              <a:t>編集者が
工程表を更新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56815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7ECFA0"/>
                </a:solidFill>
                <a:latin typeface="Meiryo"/>
              </a:rPr>
              <a:t>→</a:t>
            </a:r>
          </a:p>
        </p:txBody>
      </p:sp>
      <p:sp>
        <p:nvSpPr>
          <p:cNvPr id="12" name="Oval 11"/>
          <p:cNvSpPr/>
          <p:nvPr/>
        </p:nvSpPr>
        <p:spPr>
          <a:xfrm>
            <a:off x="2542032" y="749808"/>
            <a:ext cx="1463040" cy="1463040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42032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🔄</a:t>
            </a:r>
          </a:p>
        </p:txBody>
      </p:sp>
      <p:sp>
        <p:nvSpPr>
          <p:cNvPr id="14" name="Oval 13"/>
          <p:cNvSpPr/>
          <p:nvPr/>
        </p:nvSpPr>
        <p:spPr>
          <a:xfrm>
            <a:off x="2542032" y="731520"/>
            <a:ext cx="292608" cy="292608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4203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2303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2D9B5E"/>
                </a:solidFill>
                <a:latin typeface="Meiryo"/>
              </a:rPr>
              <a:t>サーバーに
自動保存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59935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7ECFA0"/>
                </a:solidFill>
                <a:latin typeface="Meiryo"/>
              </a:rPr>
              <a:t>→</a:t>
            </a:r>
          </a:p>
        </p:txBody>
      </p:sp>
      <p:sp>
        <p:nvSpPr>
          <p:cNvPr id="18" name="Oval 17"/>
          <p:cNvSpPr/>
          <p:nvPr/>
        </p:nvSpPr>
        <p:spPr>
          <a:xfrm>
            <a:off x="4645152" y="749808"/>
            <a:ext cx="1463040" cy="1463040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45152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🔔</a:t>
            </a:r>
          </a:p>
        </p:txBody>
      </p:sp>
      <p:sp>
        <p:nvSpPr>
          <p:cNvPr id="20" name="Oval 19"/>
          <p:cNvSpPr/>
          <p:nvPr/>
        </p:nvSpPr>
        <p:spPr>
          <a:xfrm>
            <a:off x="4645152" y="731520"/>
            <a:ext cx="292608" cy="292608"/>
          </a:xfrm>
          <a:prstGeom prst="ellipse">
            <a:avLst/>
          </a:prstGeom>
          <a:solidFill>
            <a:srgbClr val="C87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45152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5424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C87A5A"/>
                </a:solidFill>
                <a:latin typeface="Meiryo"/>
              </a:rPr>
              <a:t>閲覧者の画面に
通知バナー表示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6" y="1170432"/>
            <a:ext cx="47548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0" i="0">
                <a:solidFill>
                  <a:srgbClr val="7ECFA0"/>
                </a:solidFill>
                <a:latin typeface="Meiryo"/>
              </a:rPr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6748271" y="749808"/>
            <a:ext cx="1463040" cy="1463040"/>
          </a:xfrm>
          <a:prstGeom prst="ellipse">
            <a:avLst/>
          </a:prstGeom>
          <a:solidFill>
            <a:srgbClr val="D2E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48271" y="749808"/>
            <a:ext cx="146304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0" i="0">
                <a:latin typeface="Meiryo"/>
              </a:rPr>
              <a:t>✅</a:t>
            </a:r>
          </a:p>
        </p:txBody>
      </p:sp>
      <p:sp>
        <p:nvSpPr>
          <p:cNvPr id="26" name="Oval 25"/>
          <p:cNvSpPr/>
          <p:nvPr/>
        </p:nvSpPr>
        <p:spPr>
          <a:xfrm>
            <a:off x="6748271" y="731520"/>
            <a:ext cx="292608" cy="292608"/>
          </a:xfrm>
          <a:prstGeom prst="ellipse">
            <a:avLst/>
          </a:prstGeom>
          <a:solidFill>
            <a:srgbClr val="6A8E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48271" y="7315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3" y="2359152"/>
            <a:ext cx="168249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6A8EAD"/>
                </a:solidFill>
                <a:latin typeface="Meiryo"/>
              </a:rPr>
              <a:t>最新の工程表が
自動反映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" y="3090672"/>
            <a:ext cx="8266175" cy="621792"/>
          </a:xfrm>
          <a:prstGeom prst="rect">
            <a:avLst/>
          </a:prstGeom>
          <a:solidFill>
            <a:srgbClr val="1939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8912" y="3090672"/>
            <a:ext cx="54864" cy="621792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2" y="3145536"/>
            <a:ext cx="6400800" cy="5120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"/>
              </a:rPr>
              <a:t>🔔  工程表が更新されました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3200400"/>
            <a:ext cx="62179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0" i="0" dirty="0">
                <a:solidFill>
                  <a:srgbClr val="D2EDE0"/>
                </a:solidFill>
                <a:latin typeface="Meiryo"/>
              </a:rPr>
              <a:t>× </a:t>
            </a:r>
            <a:r>
              <a:rPr sz="1000" b="0" i="0" dirty="0" err="1">
                <a:solidFill>
                  <a:srgbClr val="D2EDE0"/>
                </a:solidFill>
                <a:latin typeface="Meiryo"/>
              </a:rPr>
              <a:t>閉じる</a:t>
            </a:r>
            <a:endParaRPr sz="1000" b="0" i="0" dirty="0">
              <a:solidFill>
                <a:srgbClr val="D2EDE0"/>
              </a:solidFill>
              <a:latin typeface="Meiryo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21792" y="3730752"/>
            <a:ext cx="777240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1">
                <a:solidFill>
                  <a:srgbClr val="68C293"/>
                </a:solidFill>
                <a:latin typeface="Meiryo"/>
              </a:rPr>
              <a:t>← 実際に表示されるバナーのイメージ（3秒後に自動消去）</a:t>
            </a:r>
          </a:p>
        </p:txBody>
      </p:sp>
      <p:sp>
        <p:nvSpPr>
          <p:cNvPr id="34" name="Oval 33"/>
          <p:cNvSpPr/>
          <p:nvPr/>
        </p:nvSpPr>
        <p:spPr>
          <a:xfrm>
            <a:off x="438912" y="4105656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0624" y="4096512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" y="4059936"/>
            <a:ext cx="795527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B3927"/>
                </a:solidFill>
                <a:latin typeface="Meiryo"/>
              </a:rPr>
              <a:t>ページを開いたままでも最新情報が自動反映されます（手動更新不要）</a:t>
            </a:r>
          </a:p>
        </p:txBody>
      </p:sp>
      <p:sp>
        <p:nvSpPr>
          <p:cNvPr id="37" name="Oval 36"/>
          <p:cNvSpPr/>
          <p:nvPr/>
        </p:nvSpPr>
        <p:spPr>
          <a:xfrm>
            <a:off x="438912" y="4434840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0624" y="4425696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450785"/>
            <a:ext cx="7955279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 dirty="0">
                <a:solidFill>
                  <a:srgbClr val="1B3927"/>
                </a:solidFill>
                <a:latin typeface="Meiryo"/>
              </a:rPr>
              <a:t>通知バナーは</a:t>
            </a:r>
            <a:r>
              <a:rPr lang="en-US" altLang="ja-JP" sz="1100" b="0" i="0" dirty="0">
                <a:solidFill>
                  <a:srgbClr val="1B3927"/>
                </a:solidFill>
                <a:latin typeface="Meiryo"/>
              </a:rPr>
              <a:t>5</a:t>
            </a:r>
            <a:r>
              <a:rPr sz="1100" b="0" i="0" dirty="0">
                <a:solidFill>
                  <a:srgbClr val="1B3927"/>
                </a:solidFill>
                <a:latin typeface="Meiryo"/>
              </a:rPr>
              <a:t>秒後に自動で消えます</a:t>
            </a:r>
          </a:p>
        </p:txBody>
      </p:sp>
      <p:sp>
        <p:nvSpPr>
          <p:cNvPr id="40" name="Oval 39"/>
          <p:cNvSpPr/>
          <p:nvPr/>
        </p:nvSpPr>
        <p:spPr>
          <a:xfrm>
            <a:off x="438912" y="4764024"/>
            <a:ext cx="201168" cy="201168"/>
          </a:xfrm>
          <a:prstGeom prst="ellipse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20624" y="4754880"/>
            <a:ext cx="237744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4718304"/>
            <a:ext cx="7955279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B3927"/>
                </a:solidFill>
                <a:latin typeface="Meiryo"/>
              </a:rPr>
              <a:t>編集者が「公開」ボタンを押したときに更新が通知されます（Supabase Realtimeによる即時通知）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9  / 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F9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F6F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008" y="530352"/>
            <a:ext cx="9079992" cy="36576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56032" y="54864"/>
            <a:ext cx="85953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193928"/>
                </a:solidFill>
                <a:latin typeface="Meiryo"/>
              </a:rPr>
              <a:t>更新履歴の確認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685800"/>
            <a:ext cx="3749039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56032" y="685800"/>
            <a:ext cx="54864" cy="4206240"/>
          </a:xfrm>
          <a:prstGeom prst="rect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" y="749808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D9B5E"/>
                </a:solidFill>
                <a:latin typeface="Meiryo"/>
              </a:rPr>
              <a:t>操作手順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" y="1042415"/>
            <a:ext cx="3383280" cy="22860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02336" y="1133856"/>
            <a:ext cx="402336" cy="402336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" y="113385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1152144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 err="1">
                <a:solidFill>
                  <a:srgbClr val="3B7852"/>
                </a:solidFill>
                <a:latin typeface="Meiryo"/>
              </a:rPr>
              <a:t>画面右上の</a:t>
            </a:r>
            <a:r>
              <a:rPr sz="1100" b="0" i="0" dirty="0">
                <a:solidFill>
                  <a:srgbClr val="3B7852"/>
                </a:solidFill>
                <a:latin typeface="Meiryo"/>
              </a:rPr>
              <a:t>「📋 </a:t>
            </a:r>
            <a:r>
              <a:rPr sz="1100" b="0" i="0" dirty="0" err="1">
                <a:solidFill>
                  <a:srgbClr val="3B7852"/>
                </a:solidFill>
                <a:latin typeface="Meiryo"/>
              </a:rPr>
              <a:t>更新履歴」ボタンをクリックします</a:t>
            </a:r>
            <a:endParaRPr sz="1100" b="0" i="0" dirty="0">
              <a:solidFill>
                <a:srgbClr val="3B7852"/>
              </a:solidFill>
              <a:latin typeface="Meiryo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66928" y="1591056"/>
            <a:ext cx="54864" cy="402336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02336" y="2029967"/>
            <a:ext cx="402336" cy="402336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02336" y="2029967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2048255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>
                <a:solidFill>
                  <a:srgbClr val="3B7852"/>
                </a:solidFill>
                <a:latin typeface="Meiryo"/>
              </a:rPr>
              <a:t>モーダルウィンドウが開き、過去1ヶ月の変更履歴が一覧表示されます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487168"/>
            <a:ext cx="54864" cy="402336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02336" y="2926080"/>
            <a:ext cx="402336" cy="402336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02336" y="292608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" y="2944368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 err="1">
                <a:solidFill>
                  <a:srgbClr val="3B7852"/>
                </a:solidFill>
                <a:latin typeface="Meiryo"/>
              </a:rPr>
              <a:t>変更日時・工事番号</a:t>
            </a:r>
            <a:r>
              <a:rPr sz="1100" b="0" i="0" dirty="0">
                <a:solidFill>
                  <a:srgbClr val="3B7852"/>
                </a:solidFill>
                <a:latin typeface="Meiryo"/>
              </a:rPr>
              <a:t>・</a:t>
            </a:r>
            <a:r>
              <a:rPr lang="ja-JP" altLang="en-US" sz="1100" b="0" i="0" dirty="0">
                <a:solidFill>
                  <a:srgbClr val="3B785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機械・ユニット・タスク名・</a:t>
            </a:r>
            <a:r>
              <a:rPr sz="1100" b="0" i="0" dirty="0" err="1">
                <a:solidFill>
                  <a:srgbClr val="3B785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変更箇所・変更</a:t>
            </a:r>
            <a:r>
              <a:rPr lang="ja-JP" altLang="en-US" sz="1100" b="0" i="0" dirty="0">
                <a:solidFill>
                  <a:srgbClr val="3B7852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元・変更者</a:t>
            </a:r>
            <a:r>
              <a:rPr sz="1100" b="0" i="0" dirty="0" err="1">
                <a:solidFill>
                  <a:srgbClr val="3B7852"/>
                </a:solidFill>
                <a:latin typeface="Meiryo"/>
              </a:rPr>
              <a:t>を確認できます</a:t>
            </a:r>
            <a:endParaRPr sz="1100" b="0" i="0" dirty="0">
              <a:solidFill>
                <a:srgbClr val="3B7852"/>
              </a:solidFill>
              <a:latin typeface="Meiryo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66928" y="3383280"/>
            <a:ext cx="54864" cy="402336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02336" y="3822191"/>
            <a:ext cx="402336" cy="402336"/>
          </a:xfrm>
          <a:prstGeom prst="ellipse">
            <a:avLst/>
          </a:prstGeom>
          <a:solidFill>
            <a:srgbClr val="2D9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02336" y="3822191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3840479"/>
            <a:ext cx="2999232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 dirty="0" err="1">
                <a:solidFill>
                  <a:srgbClr val="3B7852"/>
                </a:solidFill>
                <a:latin typeface="Meiryo"/>
              </a:rPr>
              <a:t>モーダル外をクリックするか、右上の</a:t>
            </a:r>
            <a:r>
              <a:rPr sz="1100" b="0" i="0" dirty="0">
                <a:solidFill>
                  <a:srgbClr val="3B7852"/>
                </a:solidFill>
                <a:latin typeface="Meiryo"/>
              </a:rPr>
              <a:t>「✕」</a:t>
            </a:r>
            <a:r>
              <a:rPr sz="1100" b="0" i="0" dirty="0" err="1">
                <a:solidFill>
                  <a:srgbClr val="3B7852"/>
                </a:solidFill>
                <a:latin typeface="Meiryo"/>
              </a:rPr>
              <a:t>で閉じます</a:t>
            </a:r>
            <a:endParaRPr sz="1100" b="0" i="0" dirty="0">
              <a:solidFill>
                <a:srgbClr val="3B7852"/>
              </a:solidFill>
              <a:latin typeface="Meiryo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151376" y="685800"/>
            <a:ext cx="4736592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151376" y="685800"/>
            <a:ext cx="54864" cy="4206240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15968" y="749808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2D9B5E"/>
                </a:solidFill>
                <a:latin typeface="Meiryo"/>
              </a:rPr>
              <a:t>更新履歴ウィンドウのイメージ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1042415"/>
            <a:ext cx="4480560" cy="22860"/>
          </a:xfrm>
          <a:prstGeom prst="rect">
            <a:avLst/>
          </a:prstGeom>
          <a:solidFill>
            <a:srgbClr val="7EC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24528" y="1115568"/>
            <a:ext cx="1170432" cy="274320"/>
          </a:xfrm>
          <a:prstGeom prst="rect">
            <a:avLst/>
          </a:prstGeom>
          <a:solidFill>
            <a:srgbClr val="2D9B5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261104" y="1133856"/>
            <a:ext cx="109728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日時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60" y="1115568"/>
            <a:ext cx="914400" cy="274320"/>
          </a:xfrm>
          <a:prstGeom prst="rect">
            <a:avLst/>
          </a:prstGeom>
          <a:solidFill>
            <a:srgbClr val="2D9B5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31536" y="1133856"/>
            <a:ext cx="841248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工事番号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60" y="1115568"/>
            <a:ext cx="2432304" cy="274320"/>
          </a:xfrm>
          <a:prstGeom prst="rect">
            <a:avLst/>
          </a:prstGeom>
          <a:solidFill>
            <a:srgbClr val="2D9B5E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345936" y="1133856"/>
            <a:ext cx="2359152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eiryo"/>
              </a:rPr>
              <a:t>変更内容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24528" y="1408176"/>
            <a:ext cx="1170432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261104" y="14721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4/28  14:30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60" y="1408176"/>
            <a:ext cx="914400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31536" y="14721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3001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09360" y="1408176"/>
            <a:ext cx="2432304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45936" y="14721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組立工程　開始日を5/10→5/8に変更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24528" y="18653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261104" y="19293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4/27  10:15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94960" y="18653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31536" y="19293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2001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18653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345936" y="19293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設計工程　担当を田中→佐藤に変更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2322576"/>
            <a:ext cx="1170432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261104" y="23865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4/26  16:42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94960" y="2322576"/>
            <a:ext cx="914400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31536" y="23865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3002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9360" y="2322576"/>
            <a:ext cx="2432304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45936" y="23865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品証工程　完了日を5/20→5/18に変更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24528" y="27797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261104" y="28437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4/25  9:00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94960" y="27797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31536" y="28437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2002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60" y="27797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45936" y="28437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製管工程　新規タスク「部材発注」追加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24528" y="3236976"/>
            <a:ext cx="1170432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261104" y="33009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4/24  11:30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94960" y="3236976"/>
            <a:ext cx="914400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31536" y="33009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3001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60" y="3236976"/>
            <a:ext cx="2432304" cy="420624"/>
          </a:xfrm>
          <a:prstGeom prst="rect">
            <a:avLst/>
          </a:prstGeom>
          <a:solidFill>
            <a:srgbClr val="CFF0DE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45936" y="33009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客先立会マークを5/15に設定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24528" y="3694176"/>
            <a:ext cx="1170432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261104" y="3758184"/>
            <a:ext cx="109728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4/23  15:20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94960" y="3694176"/>
            <a:ext cx="914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5431536" y="3758184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3003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60" y="3694176"/>
            <a:ext cx="2432304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D2ED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6345936" y="3758184"/>
            <a:ext cx="2359152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0" i="0">
                <a:solidFill>
                  <a:srgbClr val="1B3927"/>
                </a:solidFill>
                <a:latin typeface="Meiryo"/>
              </a:rPr>
              <a:t>出荷確認会議マークを5/25に設定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10  / 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9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79492"/>
            <a:ext cx="9144000" cy="64008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841248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"/>
              </a:rPr>
              <a:t>機能比較　― 閲覧者（未ログイン）  vs  編集者（ログイン済）―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548640"/>
            <a:ext cx="8412480" cy="22860"/>
          </a:xfrm>
          <a:prstGeom prst="rect">
            <a:avLst/>
          </a:prstGeom>
          <a:solidFill>
            <a:srgbClr val="4DBD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84048" y="621792"/>
            <a:ext cx="3657600" cy="420624"/>
          </a:xfrm>
          <a:prstGeom prst="rect">
            <a:avLst/>
          </a:prstGeom>
          <a:solidFill>
            <a:srgbClr val="2D9B5E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621792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機能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621792"/>
            <a:ext cx="2523744" cy="420624"/>
          </a:xfrm>
          <a:prstGeom prst="rect">
            <a:avLst/>
          </a:prstGeom>
          <a:solidFill>
            <a:srgbClr val="2D9B5E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33087" y="621792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閲覧者（未ログイン）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65392" y="621792"/>
            <a:ext cx="2523744" cy="420624"/>
          </a:xfrm>
          <a:prstGeom prst="rect">
            <a:avLst/>
          </a:prstGeom>
          <a:solidFill>
            <a:srgbClr val="2D9B5E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56831" y="621792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eiryo"/>
              </a:rPr>
              <a:t>編集者（ログイン済）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042416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488" y="1042416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ガントチャートの閲覧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41648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14800" y="104241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1042416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38544" y="104241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463040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488" y="1463040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フィルター・検索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41648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14800" y="146304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65392" y="1463040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38544" y="146304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1883664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" y="188366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更新履歴の確認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14800" y="188366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5392" y="1883664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38544" y="188366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304288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488" y="2304288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リソースパネルの表示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041648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114800" y="230428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65392" y="2304288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38544" y="230428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84048" y="2724912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488" y="2724912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更新通知バナーの受信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41648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114800" y="2724912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2724912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38544" y="2850585"/>
            <a:ext cx="2414015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dirty="0">
                <a:solidFill>
                  <a:srgbClr val="B56A6A"/>
                </a:solidFill>
                <a:latin typeface="Meiryo"/>
              </a:rPr>
              <a:t>❌  （</a:t>
            </a:r>
            <a:r>
              <a:rPr sz="1100" b="1" i="0" dirty="0" err="1">
                <a:solidFill>
                  <a:srgbClr val="B56A6A"/>
                </a:solidFill>
                <a:latin typeface="Meiryo"/>
              </a:rPr>
              <a:t>編集者は常に最新</a:t>
            </a:r>
            <a:r>
              <a:rPr sz="1100" b="1" i="0" dirty="0">
                <a:solidFill>
                  <a:srgbClr val="B56A6A"/>
                </a:solidFill>
                <a:latin typeface="Meiryo"/>
              </a:rPr>
              <a:t>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3145536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5488" y="3145536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新規受注の登録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41648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114800" y="314553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65392" y="3145536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38544" y="3145536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84048" y="3566160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75488" y="3566160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タスクの編集・削除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41648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14800" y="356616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65392" y="3566160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38544" y="3566160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84048" y="3986784"/>
            <a:ext cx="3657600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75488" y="3986784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工程表の更新（公開）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41648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0" y="398678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65392" y="3986784"/>
            <a:ext cx="2523744" cy="420624"/>
          </a:xfrm>
          <a:prstGeom prst="rect">
            <a:avLst/>
          </a:prstGeom>
          <a:solidFill>
            <a:srgbClr val="2E4238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38544" y="3986784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84048" y="4407408"/>
            <a:ext cx="3657600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75488" y="4407408"/>
            <a:ext cx="3511296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eiryo"/>
              </a:rPr>
              <a:t>完了済み工事の管理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041648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114800" y="440740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B56A6A"/>
                </a:solidFill>
                <a:latin typeface="Meiryo"/>
              </a:rPr>
              <a:t>❌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65392" y="4407408"/>
            <a:ext cx="2523744" cy="420624"/>
          </a:xfrm>
          <a:prstGeom prst="rect">
            <a:avLst/>
          </a:prstGeom>
          <a:solidFill>
            <a:srgbClr val="3A5245"/>
          </a:solidFill>
          <a:ln w="6350">
            <a:solidFill>
              <a:srgbClr val="1939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638544" y="4407408"/>
            <a:ext cx="2414015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7ECFA0"/>
                </a:solidFill>
                <a:latin typeface="Meiryo"/>
              </a:rPr>
              <a:t>✅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791456"/>
            <a:ext cx="841248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0" i="1">
                <a:solidFill>
                  <a:srgbClr val="7ECFA0"/>
                </a:solidFill>
                <a:latin typeface="Meiryo"/>
              </a:rPr>
              <a:t>閲覧専用でも、十分な情報確認が可能です。編集が必要な場合はログインしてください。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0" y="48646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900" b="0" i="0">
                <a:solidFill>
                  <a:srgbClr val="68C293"/>
                </a:solidFill>
                <a:latin typeface="Meiryo"/>
              </a:rPr>
              <a:t>11  /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619</Words>
  <Application>Microsoft Office PowerPoint</Application>
  <PresentationFormat>画面に合わせる (16:9)</PresentationFormat>
  <Paragraphs>251</Paragraphs>
  <Slides>10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6" baseType="lpstr">
      <vt:lpstr>メイリオ</vt:lpstr>
      <vt:lpstr>メイリオ</vt:lpstr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黒崎 恵未</cp:lastModifiedBy>
  <cp:revision>5</cp:revision>
  <dcterms:created xsi:type="dcterms:W3CDTF">2013-01-27T09:14:16Z</dcterms:created>
  <dcterms:modified xsi:type="dcterms:W3CDTF">2026-04-30T06:09:14Z</dcterms:modified>
  <cp:category/>
</cp:coreProperties>
</file>